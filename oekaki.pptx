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3" r:id="rId5"/>
    <p:sldId id="261" r:id="rId6"/>
    <p:sldId id="262" r:id="rId7"/>
    <p:sldId id="264" r:id="rId8"/>
    <p:sldId id="265" r:id="rId9"/>
    <p:sldId id="269" r:id="rId10"/>
    <p:sldId id="27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248" autoAdjust="0"/>
  </p:normalViewPr>
  <p:slideViewPr>
    <p:cSldViewPr snapToGrid="0">
      <p:cViewPr varScale="1">
        <p:scale>
          <a:sx n="68" d="100"/>
          <a:sy n="68" d="100"/>
        </p:scale>
        <p:origin x="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8CFCB-C4AA-418A-BB8C-30E751BC0476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40C46-04D7-43BD-89EE-C71A745066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311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40C46-04D7-43BD-89EE-C71A7450668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186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各ユーザアカウントは、</a:t>
            </a:r>
            <a:r>
              <a:rPr kumimoji="1" lang="en-US" altLang="ja-JP" err="1"/>
              <a:t>todos_list</a:t>
            </a:r>
            <a:r>
              <a:rPr kumimoji="1" lang="ja-JP" altLang="en-US"/>
              <a:t>を</a:t>
            </a:r>
            <a:r>
              <a:rPr kumimoji="1" lang="en-US" altLang="ja-JP"/>
              <a:t>0</a:t>
            </a:r>
            <a:r>
              <a:rPr kumimoji="1" lang="ja-JP" altLang="en-US"/>
              <a:t>個か</a:t>
            </a:r>
            <a:r>
              <a:rPr kumimoji="1" lang="en-US" altLang="ja-JP"/>
              <a:t>1</a:t>
            </a:r>
            <a:r>
              <a:rPr kumimoji="1" lang="ja-JP" altLang="en-US"/>
              <a:t>個持つ。</a:t>
            </a:r>
            <a:endParaRPr kumimoji="1" lang="en-US" altLang="ja-JP"/>
          </a:p>
          <a:p>
            <a:r>
              <a:rPr kumimoji="1" lang="en-US" altLang="ja-JP"/>
              <a:t>1</a:t>
            </a:r>
            <a:r>
              <a:rPr kumimoji="1" lang="ja-JP" altLang="en-US"/>
              <a:t>つの</a:t>
            </a:r>
            <a:r>
              <a:rPr kumimoji="1" lang="en-US" altLang="ja-JP" err="1"/>
              <a:t>todos_list</a:t>
            </a:r>
            <a:r>
              <a:rPr kumimoji="1" lang="en-US" altLang="ja-JP"/>
              <a:t> </a:t>
            </a:r>
            <a:r>
              <a:rPr kumimoji="1" lang="ja-JP" altLang="en-US"/>
              <a:t>は、複数の</a:t>
            </a:r>
            <a:r>
              <a:rPr kumimoji="1" lang="en-US" altLang="ja-JP" err="1"/>
              <a:t>todos</a:t>
            </a:r>
            <a:r>
              <a:rPr kumimoji="1" lang="ja-JP" altLang="en-US"/>
              <a:t>を持つ。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40C46-04D7-43BD-89EE-C71A7450668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048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Mule Runtime Engine</a:t>
            </a:r>
            <a:r>
              <a:rPr kumimoji="1" lang="ja-JP" altLang="en-US"/>
              <a:t>は、</a:t>
            </a:r>
            <a:r>
              <a:rPr kumimoji="1" lang="en-US" altLang="ja-JP"/>
              <a:t>java</a:t>
            </a:r>
            <a:r>
              <a:rPr kumimoji="1" lang="ja-JP" altLang="en-US"/>
              <a:t>アプリにおける</a:t>
            </a:r>
            <a:r>
              <a:rPr kumimoji="1" lang="en-US" altLang="ja-JP"/>
              <a:t>Tomcat</a:t>
            </a:r>
            <a:r>
              <a:rPr kumimoji="1" lang="ja-JP" altLang="en-US"/>
              <a:t>のようなもの。</a:t>
            </a:r>
            <a:endParaRPr kumimoji="1" lang="en-US" altLang="ja-JP"/>
          </a:p>
          <a:p>
            <a:r>
              <a:rPr kumimoji="1" lang="en-US" altLang="ja-JP"/>
              <a:t>CloudHub2.0</a:t>
            </a:r>
            <a:r>
              <a:rPr kumimoji="1" lang="ja-JP" altLang="en-US"/>
              <a:t>は、</a:t>
            </a:r>
            <a:r>
              <a:rPr kumimoji="1" lang="en-US" altLang="ja-JP"/>
              <a:t>Mulesoft</a:t>
            </a:r>
            <a:r>
              <a:rPr kumimoji="1" lang="ja-JP" altLang="en-US"/>
              <a:t>が</a:t>
            </a:r>
            <a:r>
              <a:rPr kumimoji="1" lang="en-US" altLang="ja-JP"/>
              <a:t>iPaaS</a:t>
            </a:r>
            <a:r>
              <a:rPr kumimoji="1" lang="ja-JP" altLang="en-US"/>
              <a:t>たるゆえん</a:t>
            </a:r>
            <a:r>
              <a:rPr kumimoji="1" lang="en-US" altLang="ja-JP"/>
              <a:t>?.</a:t>
            </a:r>
          </a:p>
          <a:p>
            <a:r>
              <a:rPr kumimoji="1" lang="en-US" altLang="ja-JP"/>
              <a:t>Control Plane</a:t>
            </a:r>
            <a:r>
              <a:rPr kumimoji="1" lang="ja-JP" altLang="en-US"/>
              <a:t>というのは、</a:t>
            </a:r>
            <a:r>
              <a:rPr kumimoji="1" lang="en-US" altLang="ja-JP"/>
              <a:t>API</a:t>
            </a:r>
            <a:r>
              <a:rPr kumimoji="1" lang="ja-JP" altLang="en-US"/>
              <a:t>管理機能の総称に過ぎない。何か具体的なソフトウェアとかではない。</a:t>
            </a:r>
            <a:br>
              <a:rPr kumimoji="1" lang="en-US" altLang="ja-JP"/>
            </a:br>
            <a:r>
              <a:rPr kumimoji="1" lang="en-US" altLang="ja-JP"/>
              <a:t>Omni Gateway</a:t>
            </a:r>
            <a:r>
              <a:rPr kumimoji="1" lang="ja-JP" altLang="en-US"/>
              <a:t>は、</a:t>
            </a:r>
            <a:r>
              <a:rPr kumimoji="1" lang="en-US" altLang="ja-JP"/>
              <a:t>API</a:t>
            </a:r>
            <a:r>
              <a:rPr kumimoji="1" lang="ja-JP" altLang="en-US"/>
              <a:t>への通信を受け付け、認証・流量制限・バックエンド</a:t>
            </a:r>
            <a:r>
              <a:rPr kumimoji="1" lang="en-US" altLang="ja-JP"/>
              <a:t>API</a:t>
            </a:r>
            <a:r>
              <a:rPr kumimoji="1" lang="ja-JP" altLang="en-US"/>
              <a:t>への転送などを行うソフトウェア。</a:t>
            </a:r>
            <a:br>
              <a:rPr kumimoji="1" lang="en-US" altLang="ja-JP"/>
            </a:br>
            <a:r>
              <a:rPr kumimoji="1" lang="en-US" altLang="ja-JP"/>
              <a:t>Runtime Fabric</a:t>
            </a:r>
            <a:r>
              <a:rPr kumimoji="1" lang="ja-JP" altLang="en-US"/>
              <a:t>は、顧客が管理する</a:t>
            </a:r>
            <a:r>
              <a:rPr kumimoji="1" lang="en-US" altLang="ja-JP"/>
              <a:t>Kubernetes</a:t>
            </a:r>
            <a:r>
              <a:rPr kumimoji="1" lang="ja-JP" altLang="en-US"/>
              <a:t>環境で、</a:t>
            </a:r>
            <a:r>
              <a:rPr kumimoji="1" lang="en-US" altLang="ja-JP"/>
              <a:t>Mule</a:t>
            </a:r>
            <a:r>
              <a:rPr kumimoji="1" lang="ja-JP" altLang="en-US"/>
              <a:t>アプリをデプロイ・運用するための</a:t>
            </a:r>
            <a:r>
              <a:rPr kumimoji="1" lang="en-US" altLang="ja-JP"/>
              <a:t>Mulesoft</a:t>
            </a:r>
            <a:r>
              <a:rPr kumimoji="1" lang="ja-JP" altLang="en-US"/>
              <a:t>製ソフトウェア基盤。</a:t>
            </a:r>
            <a:r>
              <a:rPr kumimoji="1" lang="en-US" altLang="ja-JP"/>
              <a:t>(Kubernetes</a:t>
            </a:r>
            <a:r>
              <a:rPr kumimoji="1" lang="ja-JP" altLang="en-US"/>
              <a:t>は、複数のサーバにまたがってコンテナを配置・実行・管理する仕組み</a:t>
            </a:r>
            <a:r>
              <a:rPr kumimoji="1" lang="en-US" altLang="ja-JP"/>
              <a:t>)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40C46-04D7-43BD-89EE-C71A7450668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1140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Kong</a:t>
            </a:r>
            <a:r>
              <a:rPr kumimoji="1" lang="ja-JP" altLang="en-US"/>
              <a:t>の場合は</a:t>
            </a:r>
            <a:r>
              <a:rPr kumimoji="1" lang="en-US" altLang="ja-JP"/>
              <a:t>?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40C46-04D7-43BD-89EE-C71A7450668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08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DA0127-80E2-41B1-B2B6-B1DB503CB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5B07BC-3B05-1CDA-9246-59C8288AF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984284-8B12-5911-F6CD-841B2345B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7FF528-355E-D5A8-440E-FFB96730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888576-0258-0446-7967-1CC921E5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4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5392DC-F2A9-0518-A9AF-B08DBF122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30B4FB-A54A-3F18-531B-B53125B0D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9847A1-3CBC-8CC9-B2FE-754A0B0C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00EA31-948F-0907-A5B8-4B884C89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CE24AF-B600-899B-EDB8-35480178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45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AC4387-A15A-E102-349F-D9903FB9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1154EF-1D8C-A911-63CB-D481F65DE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81C6AB-2BDD-1FBA-4871-FA8F8957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17ED20-F9F9-90BA-F8BC-1874C600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2397E3-2D0E-43EE-45FC-048D4AE7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98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DDA19-BE2B-675F-3279-1D7B9D1D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32F7B-AC6C-7A2A-E1AD-DB1C463A6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161159-9952-B17A-38C7-10B79A4CF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20B145-3AF9-AC96-F735-7AAFA9B6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F5C1C5-FFBD-7DDA-997C-05D57764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8E114E-D6D7-71AA-865D-213D71C0F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9917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345B84-5858-24C2-3062-2B253C63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4FF560-22F7-9C2E-3114-61B4B97AD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A968EC-0021-0B41-C600-177828016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378AD1-5389-58B9-3A22-8C5412013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AB4C70E-BCEE-D611-8A02-D8A997EF6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33F57E-A97A-7F7F-3500-D92C4375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F7362CC-7618-305E-898F-9E9A0F37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A680EA-C64D-C478-A208-676B3D44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39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EB365B-F6FF-DF03-4CA6-B0DFC37E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9B848A-D51F-5482-CC2E-CA93AE2A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B0EDEE-1024-0630-15CF-3B8138FE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2392F0-96A4-9AA3-4787-51B13629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90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0EB5BA5-2972-7172-5182-0E728E081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EBF5D3-B562-2E6B-950B-F697301D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DF51BA-BB6F-6974-4EE7-303D12BA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629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36FCAA-F3B6-9902-7324-FBA5CAEE4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81956B-4A15-87C9-FBD0-3F85C0554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92F6A0-AA58-F761-9C5B-A3FF5FA98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8DB4C5-A845-0A8F-FDB6-DFC3C5C7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FB90D4-4254-D5B5-AD9E-1D042224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7EE5B6-1A87-9278-BB53-7026C45B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87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7DCD05-39B7-5E60-C987-6BB93514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8CCA0E5-35A9-B337-27DC-7BED08492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037443-A1BA-72BF-B46C-4FA8E2F62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6813AF-0E76-281F-9D65-E1EB2ABC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84BBA0-6D19-06B4-2FB8-4D2A7D54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C45A6B-7890-7F95-4667-CF8E886A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8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BC7AA0-FDD1-3A52-EA7D-649EF9A5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334FEB-5DD8-9349-F42A-1B718F6E1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8849AA-F7C0-CBDA-43DA-A38C5B0F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3874FF-234D-8A84-5FF8-25E999005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437450-ECCB-8467-8745-8CD8D1E3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10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46CEB5B-080C-17D3-3237-627CE6964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A4E082-95F9-3501-8E51-1158E59EE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C8284-72EA-0F96-8DF7-64597EF8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CE56BF-E5E5-495F-DC16-621B05CA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DB16F7-FFFA-38E5-3735-620DF8F2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87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64BF4A-97FE-6A60-A9D8-3B6BB4AC5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13" y="136525"/>
            <a:ext cx="10515600" cy="743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CE79DF-D2ED-916D-346E-B0CF11433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713" y="1009291"/>
            <a:ext cx="11197087" cy="5167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7317E7-F733-6030-AD92-CCCA7B1A5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D6012-05D2-4602-9673-70E69D80B768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150E97-97C2-4496-8B72-D526F256A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6E71CF-8BFB-1BA8-2928-4963B946F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FB6E62-6BEA-4D4C-ADE8-6169D3613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46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FB81CDF-D69C-8EDA-CCB5-7AA49979CDC0}"/>
              </a:ext>
            </a:extLst>
          </p:cNvPr>
          <p:cNvSpPr/>
          <p:nvPr/>
        </p:nvSpPr>
        <p:spPr>
          <a:xfrm>
            <a:off x="940791" y="2115125"/>
            <a:ext cx="1219200" cy="48952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/login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702A74E-625F-2FD7-30AC-274A99D11839}"/>
              </a:ext>
            </a:extLst>
          </p:cNvPr>
          <p:cNvSpPr/>
          <p:nvPr/>
        </p:nvSpPr>
        <p:spPr>
          <a:xfrm>
            <a:off x="6594634" y="2115123"/>
            <a:ext cx="1219200" cy="4895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/books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1D5B3AF3-05DD-0181-D2E7-C8242F49CEE6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159991" y="2359886"/>
            <a:ext cx="93874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08E8993-20EA-624A-6049-C2FE621D195D}"/>
              </a:ext>
            </a:extLst>
          </p:cNvPr>
          <p:cNvSpPr txBox="1"/>
          <p:nvPr/>
        </p:nvSpPr>
        <p:spPr>
          <a:xfrm>
            <a:off x="5383615" y="199252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ログイン成功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E0096CE-1D6C-E545-427E-AB55EE79B059}"/>
              </a:ext>
            </a:extLst>
          </p:cNvPr>
          <p:cNvSpPr/>
          <p:nvPr/>
        </p:nvSpPr>
        <p:spPr>
          <a:xfrm>
            <a:off x="864558" y="2604648"/>
            <a:ext cx="1764805" cy="3772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>
                <a:solidFill>
                  <a:schemeClr val="tx1"/>
                </a:solidFill>
              </a:rPr>
              <a:t>L</a:t>
            </a:r>
            <a:r>
              <a:rPr kumimoji="1" lang="en-US" altLang="ja-JP" sz="1100">
                <a:solidFill>
                  <a:schemeClr val="tx1"/>
                </a:solidFill>
              </a:rPr>
              <a:t>oginServlet.java</a:t>
            </a:r>
            <a:r>
              <a:rPr kumimoji="1" lang="ja-JP" altLang="en-US" sz="1100">
                <a:solidFill>
                  <a:schemeClr val="tx1"/>
                </a:solidFill>
              </a:rPr>
              <a:t>の</a:t>
            </a:r>
            <a:r>
              <a:rPr kumimoji="1" lang="en-US" altLang="ja-JP" sz="1100" err="1">
                <a:solidFill>
                  <a:schemeClr val="tx1"/>
                </a:solidFill>
              </a:rPr>
              <a:t>doGet</a:t>
            </a:r>
            <a:r>
              <a:rPr kumimoji="1" lang="en-US" altLang="ja-JP" sz="1100">
                <a:solidFill>
                  <a:schemeClr val="tx1"/>
                </a:solidFill>
              </a:rPr>
              <a:t>()</a:t>
            </a:r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13" name="フローチャート: 判断 12">
            <a:extLst>
              <a:ext uri="{FF2B5EF4-FFF2-40B4-BE49-F238E27FC236}">
                <a16:creationId xmlns:a16="http://schemas.microsoft.com/office/drawing/2014/main" id="{0A13EC51-07E4-3ECF-5170-B6B47AAE2733}"/>
              </a:ext>
            </a:extLst>
          </p:cNvPr>
          <p:cNvSpPr/>
          <p:nvPr/>
        </p:nvSpPr>
        <p:spPr>
          <a:xfrm>
            <a:off x="3098735" y="2171284"/>
            <a:ext cx="2609338" cy="37720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>
                <a:solidFill>
                  <a:schemeClr val="tx1"/>
                </a:solidFill>
              </a:rPr>
              <a:t>LoginServlet.java</a:t>
            </a:r>
            <a:r>
              <a:rPr lang="ja-JP" altLang="en-US" sz="1100">
                <a:solidFill>
                  <a:schemeClr val="tx1"/>
                </a:solidFill>
              </a:rPr>
              <a:t>の</a:t>
            </a:r>
            <a:r>
              <a:rPr lang="en-US" altLang="ja-JP" sz="1100" err="1">
                <a:solidFill>
                  <a:schemeClr val="tx1"/>
                </a:solidFill>
              </a:rPr>
              <a:t>doPost</a:t>
            </a:r>
            <a:r>
              <a:rPr lang="en-US" altLang="ja-JP" sz="1100">
                <a:solidFill>
                  <a:schemeClr val="tx1"/>
                </a:solidFill>
              </a:rPr>
              <a:t>()</a:t>
            </a:r>
            <a:endParaRPr lang="ja-JP" altLang="en-US" sz="1100">
              <a:solidFill>
                <a:schemeClr val="tx1"/>
              </a:solidFill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F6E772F-EDD6-D7A6-38D6-A669AAA4749F}"/>
              </a:ext>
            </a:extLst>
          </p:cNvPr>
          <p:cNvCxnSpPr>
            <a:stCxn id="13" idx="3"/>
            <a:endCxn id="3" idx="1"/>
          </p:cNvCxnSpPr>
          <p:nvPr/>
        </p:nvCxnSpPr>
        <p:spPr>
          <a:xfrm>
            <a:off x="5708073" y="2359886"/>
            <a:ext cx="88656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888AE0E-9CBF-4952-095E-B2216CE66BF7}"/>
              </a:ext>
            </a:extLst>
          </p:cNvPr>
          <p:cNvSpPr/>
          <p:nvPr/>
        </p:nvSpPr>
        <p:spPr>
          <a:xfrm>
            <a:off x="6594634" y="2604648"/>
            <a:ext cx="1764805" cy="3772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>
                <a:solidFill>
                  <a:schemeClr val="tx1"/>
                </a:solidFill>
              </a:rPr>
              <a:t>BookList</a:t>
            </a:r>
            <a:r>
              <a:rPr kumimoji="1" lang="en-US" altLang="ja-JP" sz="1100">
                <a:solidFill>
                  <a:schemeClr val="tx1"/>
                </a:solidFill>
              </a:rPr>
              <a:t>Servlet.java</a:t>
            </a:r>
            <a:r>
              <a:rPr kumimoji="1" lang="ja-JP" altLang="en-US" sz="1100">
                <a:solidFill>
                  <a:schemeClr val="tx1"/>
                </a:solidFill>
              </a:rPr>
              <a:t>の</a:t>
            </a:r>
            <a:r>
              <a:rPr kumimoji="1" lang="en-US" altLang="ja-JP" sz="1100" err="1">
                <a:solidFill>
                  <a:schemeClr val="tx1"/>
                </a:solidFill>
              </a:rPr>
              <a:t>doGet</a:t>
            </a:r>
            <a:r>
              <a:rPr kumimoji="1" lang="en-US" altLang="ja-JP" sz="1100">
                <a:solidFill>
                  <a:schemeClr val="tx1"/>
                </a:solidFill>
              </a:rPr>
              <a:t>(9</a:t>
            </a:r>
            <a:endParaRPr kumimoji="1" lang="ja-JP" alt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581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6E9C11-C538-2A89-A5E9-90A5BA3F46AD}"/>
              </a:ext>
            </a:extLst>
          </p:cNvPr>
          <p:cNvSpPr/>
          <p:nvPr/>
        </p:nvSpPr>
        <p:spPr>
          <a:xfrm>
            <a:off x="1907304" y="6059050"/>
            <a:ext cx="2299855" cy="6096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</a:rPr>
              <a:t>サーバ</a:t>
            </a:r>
            <a:r>
              <a:rPr lang="en-US" altLang="ja-JP" sz="1400">
                <a:solidFill>
                  <a:schemeClr val="tx1"/>
                </a:solidFill>
              </a:rPr>
              <a:t>(</a:t>
            </a:r>
            <a:r>
              <a:rPr lang="ja-JP" altLang="en-US" sz="1400">
                <a:solidFill>
                  <a:schemeClr val="tx1"/>
                </a:solidFill>
              </a:rPr>
              <a:t>物理</a:t>
            </a:r>
            <a:r>
              <a:rPr lang="en-US" altLang="ja-JP" sz="1400">
                <a:solidFill>
                  <a:schemeClr val="tx1"/>
                </a:solidFill>
              </a:rPr>
              <a:t>/VM)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2E4856D-587F-EB0B-9C2F-8FDD4482DA46}"/>
              </a:ext>
            </a:extLst>
          </p:cNvPr>
          <p:cNvSpPr/>
          <p:nvPr/>
        </p:nvSpPr>
        <p:spPr>
          <a:xfrm>
            <a:off x="1907304" y="4732472"/>
            <a:ext cx="2299855" cy="6096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</a:rPr>
              <a:t>コンテナ基盤</a:t>
            </a:r>
            <a:r>
              <a:rPr lang="en-US" altLang="ja-JP" sz="1400">
                <a:solidFill>
                  <a:schemeClr val="tx1"/>
                </a:solidFill>
              </a:rPr>
              <a:t>(</a:t>
            </a:r>
            <a:r>
              <a:rPr lang="en-US" altLang="ja-JP" sz="1400" err="1">
                <a:solidFill>
                  <a:schemeClr val="tx1"/>
                </a:solidFill>
              </a:rPr>
              <a:t>kubernetes</a:t>
            </a:r>
            <a:r>
              <a:rPr lang="ja-JP" altLang="en-US" sz="1400">
                <a:solidFill>
                  <a:schemeClr val="tx1"/>
                </a:solidFill>
              </a:rPr>
              <a:t>など</a:t>
            </a:r>
            <a:r>
              <a:rPr lang="en-US" altLang="ja-JP" sz="1400">
                <a:solidFill>
                  <a:schemeClr val="tx1"/>
                </a:solidFill>
              </a:rPr>
              <a:t>)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F66EEF9-5098-2943-906E-FC68EA5B8ABE}"/>
              </a:ext>
            </a:extLst>
          </p:cNvPr>
          <p:cNvSpPr/>
          <p:nvPr/>
        </p:nvSpPr>
        <p:spPr>
          <a:xfrm>
            <a:off x="1907303" y="1671196"/>
            <a:ext cx="2299855" cy="609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Java</a:t>
            </a:r>
            <a:r>
              <a:rPr lang="ja-JP" altLang="en-US" sz="1400">
                <a:solidFill>
                  <a:schemeClr val="tx1"/>
                </a:solidFill>
              </a:rPr>
              <a:t>ソースコードで記述する</a:t>
            </a:r>
            <a:r>
              <a:rPr lang="en-US" altLang="ja-JP" sz="1400">
                <a:solidFill>
                  <a:schemeClr val="tx1"/>
                </a:solidFill>
              </a:rPr>
              <a:t>App(JAR/WAR</a:t>
            </a:r>
            <a:r>
              <a:rPr lang="ja-JP" altLang="en-US" sz="1400">
                <a:solidFill>
                  <a:schemeClr val="tx1"/>
                </a:solidFill>
              </a:rPr>
              <a:t>など</a:t>
            </a:r>
            <a:r>
              <a:rPr lang="en-US" altLang="ja-JP" sz="1400">
                <a:solidFill>
                  <a:schemeClr val="tx1"/>
                </a:solidFill>
              </a:rPr>
              <a:t>)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82C08D8-FB31-E95A-4F93-4F3263F933BE}"/>
              </a:ext>
            </a:extLst>
          </p:cNvPr>
          <p:cNvSpPr/>
          <p:nvPr/>
        </p:nvSpPr>
        <p:spPr>
          <a:xfrm>
            <a:off x="1907303" y="3485570"/>
            <a:ext cx="2299855" cy="609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JDK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0CF3593-392C-3F88-3EC9-7A3D9A663A33}"/>
              </a:ext>
            </a:extLst>
          </p:cNvPr>
          <p:cNvSpPr/>
          <p:nvPr/>
        </p:nvSpPr>
        <p:spPr>
          <a:xfrm>
            <a:off x="1907305" y="5400954"/>
            <a:ext cx="2299855" cy="6096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OS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E972489-9842-5E31-AE12-D34D7605F3FD}"/>
              </a:ext>
            </a:extLst>
          </p:cNvPr>
          <p:cNvSpPr/>
          <p:nvPr/>
        </p:nvSpPr>
        <p:spPr>
          <a:xfrm>
            <a:off x="96977" y="5061523"/>
            <a:ext cx="1450109" cy="1302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accent5">
                    <a:lumMod val="75000"/>
                  </a:schemeClr>
                </a:solidFill>
              </a:rPr>
              <a:t>インフラ基盤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A7ADF44-7C24-4E12-811A-57BE37FAB0FF}"/>
              </a:ext>
            </a:extLst>
          </p:cNvPr>
          <p:cNvSpPr/>
          <p:nvPr/>
        </p:nvSpPr>
        <p:spPr>
          <a:xfrm>
            <a:off x="106216" y="2666414"/>
            <a:ext cx="1450109" cy="1021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rgbClr val="00B0F0"/>
                </a:solidFill>
              </a:rPr>
              <a:t>AP</a:t>
            </a:r>
            <a:r>
              <a:rPr kumimoji="1" lang="ja-JP" altLang="en-US" sz="1400">
                <a:solidFill>
                  <a:srgbClr val="00B0F0"/>
                </a:solidFill>
              </a:rPr>
              <a:t>基盤 </a:t>
            </a:r>
            <a:r>
              <a:rPr kumimoji="1" lang="en-US" altLang="ja-JP" sz="1400">
                <a:solidFill>
                  <a:srgbClr val="00B0F0"/>
                </a:solidFill>
              </a:rPr>
              <a:t>/ </a:t>
            </a:r>
          </a:p>
          <a:p>
            <a:pPr algn="ctr"/>
            <a:r>
              <a:rPr kumimoji="1" lang="ja-JP" altLang="en-US" sz="1400">
                <a:solidFill>
                  <a:srgbClr val="00B0F0"/>
                </a:solidFill>
              </a:rPr>
              <a:t>実行環境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648E0D8-D5F2-E5A2-3FDF-0D5F3631AFD3}"/>
              </a:ext>
            </a:extLst>
          </p:cNvPr>
          <p:cNvSpPr/>
          <p:nvPr/>
        </p:nvSpPr>
        <p:spPr>
          <a:xfrm>
            <a:off x="96977" y="1692282"/>
            <a:ext cx="1450109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solidFill>
                  <a:srgbClr val="00B050"/>
                </a:solidFill>
              </a:rPr>
              <a:t>アプリケーション</a:t>
            </a:r>
            <a:endParaRPr kumimoji="1" lang="ja-JP" altLang="en-US" sz="1200">
              <a:solidFill>
                <a:srgbClr val="00B050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6111748-8571-B99C-6CDE-3E1C7851C41D}"/>
              </a:ext>
            </a:extLst>
          </p:cNvPr>
          <p:cNvSpPr/>
          <p:nvPr/>
        </p:nvSpPr>
        <p:spPr>
          <a:xfrm>
            <a:off x="1907303" y="2729337"/>
            <a:ext cx="2299855" cy="609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Tomcat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74D928A-4B0E-32AF-3629-983EBBF26D87}"/>
              </a:ext>
            </a:extLst>
          </p:cNvPr>
          <p:cNvSpPr/>
          <p:nvPr/>
        </p:nvSpPr>
        <p:spPr>
          <a:xfrm>
            <a:off x="5153892" y="4978399"/>
            <a:ext cx="1450109" cy="13023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インフラ基盤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A5EC472-0895-7F91-747D-F79277FF9E9F}"/>
              </a:ext>
            </a:extLst>
          </p:cNvPr>
          <p:cNvSpPr/>
          <p:nvPr/>
        </p:nvSpPr>
        <p:spPr>
          <a:xfrm>
            <a:off x="5153893" y="2346037"/>
            <a:ext cx="1450109" cy="149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API</a:t>
            </a:r>
            <a:r>
              <a:rPr kumimoji="1" lang="ja-JP" altLang="en-US">
                <a:solidFill>
                  <a:schemeClr val="tx1"/>
                </a:solidFill>
              </a:rPr>
              <a:t>実行基盤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415B48B-B6B1-9C4E-9AB6-8FC1E5B43B96}"/>
              </a:ext>
            </a:extLst>
          </p:cNvPr>
          <p:cNvSpPr/>
          <p:nvPr/>
        </p:nvSpPr>
        <p:spPr>
          <a:xfrm>
            <a:off x="5218541" y="1159164"/>
            <a:ext cx="1450109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</a:rPr>
              <a:t>アプリケーション</a:t>
            </a:r>
            <a:endParaRPr lang="en-US" altLang="ja-JP" sz="120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>
                <a:solidFill>
                  <a:schemeClr val="tx1"/>
                </a:solidFill>
              </a:rPr>
              <a:t>(API</a:t>
            </a:r>
            <a:r>
              <a:rPr kumimoji="1" lang="ja-JP" altLang="en-US" sz="1200">
                <a:solidFill>
                  <a:schemeClr val="tx1"/>
                </a:solidFill>
              </a:rPr>
              <a:t>処理層</a:t>
            </a:r>
            <a:r>
              <a:rPr kumimoji="1" lang="en-US" altLang="ja-JP" sz="1200">
                <a:solidFill>
                  <a:schemeClr val="tx1"/>
                </a:solidFill>
              </a:rPr>
              <a:t>)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1" name="左中かっこ 40">
            <a:extLst>
              <a:ext uri="{FF2B5EF4-FFF2-40B4-BE49-F238E27FC236}">
                <a16:creationId xmlns:a16="http://schemas.microsoft.com/office/drawing/2014/main" id="{1402F733-2F16-B912-ACCD-53874420837E}"/>
              </a:ext>
            </a:extLst>
          </p:cNvPr>
          <p:cNvSpPr/>
          <p:nvPr/>
        </p:nvSpPr>
        <p:spPr>
          <a:xfrm>
            <a:off x="6668650" y="1228437"/>
            <a:ext cx="184729" cy="54032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左中かっこ 42">
            <a:extLst>
              <a:ext uri="{FF2B5EF4-FFF2-40B4-BE49-F238E27FC236}">
                <a16:creationId xmlns:a16="http://schemas.microsoft.com/office/drawing/2014/main" id="{FD605191-C101-CA5B-DB88-0FF6CCC762DF}"/>
              </a:ext>
            </a:extLst>
          </p:cNvPr>
          <p:cNvSpPr/>
          <p:nvPr/>
        </p:nvSpPr>
        <p:spPr>
          <a:xfrm>
            <a:off x="6705602" y="2641040"/>
            <a:ext cx="184729" cy="12012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左中かっこ 44">
            <a:extLst>
              <a:ext uri="{FF2B5EF4-FFF2-40B4-BE49-F238E27FC236}">
                <a16:creationId xmlns:a16="http://schemas.microsoft.com/office/drawing/2014/main" id="{5A1A3413-DA10-9B54-D071-38B1EB657282}"/>
              </a:ext>
            </a:extLst>
          </p:cNvPr>
          <p:cNvSpPr/>
          <p:nvPr/>
        </p:nvSpPr>
        <p:spPr>
          <a:xfrm>
            <a:off x="6705602" y="4384961"/>
            <a:ext cx="258616" cy="21543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D7B6E9E-BFB7-2D21-3DAD-40E60F10C4AB}"/>
              </a:ext>
            </a:extLst>
          </p:cNvPr>
          <p:cNvSpPr/>
          <p:nvPr/>
        </p:nvSpPr>
        <p:spPr>
          <a:xfrm>
            <a:off x="831270" y="319227"/>
            <a:ext cx="2900225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tx1"/>
                </a:solidFill>
              </a:rPr>
              <a:t>Web</a:t>
            </a:r>
            <a:r>
              <a:rPr kumimoji="1" lang="ja-JP" altLang="en-US" b="1">
                <a:solidFill>
                  <a:schemeClr val="tx1"/>
                </a:solidFill>
              </a:rPr>
              <a:t>システム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012BB27-6886-C315-DFEC-8AF4081CFB57}"/>
              </a:ext>
            </a:extLst>
          </p:cNvPr>
          <p:cNvSpPr/>
          <p:nvPr/>
        </p:nvSpPr>
        <p:spPr>
          <a:xfrm>
            <a:off x="7139711" y="177795"/>
            <a:ext cx="2299855" cy="6096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システム連携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FC6A613-81ED-3322-FBBE-2E44DB1B5F3E}"/>
              </a:ext>
            </a:extLst>
          </p:cNvPr>
          <p:cNvSpPr/>
          <p:nvPr/>
        </p:nvSpPr>
        <p:spPr>
          <a:xfrm>
            <a:off x="7112002" y="5964381"/>
            <a:ext cx="2299855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</a:rPr>
              <a:t>サーバ</a:t>
            </a:r>
            <a:r>
              <a:rPr lang="en-US" altLang="ja-JP" sz="1400">
                <a:solidFill>
                  <a:schemeClr val="tx1"/>
                </a:solidFill>
              </a:rPr>
              <a:t>(</a:t>
            </a:r>
            <a:r>
              <a:rPr lang="ja-JP" altLang="en-US" sz="1400">
                <a:solidFill>
                  <a:schemeClr val="tx1"/>
                </a:solidFill>
              </a:rPr>
              <a:t>物理</a:t>
            </a:r>
            <a:r>
              <a:rPr lang="en-US" altLang="ja-JP" sz="1400">
                <a:solidFill>
                  <a:schemeClr val="tx1"/>
                </a:solidFill>
              </a:rPr>
              <a:t>/VM)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9F4898BD-FE21-D94C-B8A3-D9B395296293}"/>
              </a:ext>
            </a:extLst>
          </p:cNvPr>
          <p:cNvSpPr/>
          <p:nvPr/>
        </p:nvSpPr>
        <p:spPr>
          <a:xfrm>
            <a:off x="7139711" y="4384961"/>
            <a:ext cx="2299855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solidFill>
                  <a:schemeClr val="tx1"/>
                </a:solidFill>
              </a:rPr>
              <a:t>コンテナ基盤</a:t>
            </a:r>
            <a:r>
              <a:rPr lang="en-US" altLang="ja-JP" sz="1400">
                <a:solidFill>
                  <a:schemeClr val="tx1"/>
                </a:solidFill>
              </a:rPr>
              <a:t>(</a:t>
            </a:r>
            <a:r>
              <a:rPr lang="en-US" altLang="ja-JP" sz="1400" err="1">
                <a:solidFill>
                  <a:schemeClr val="tx1"/>
                </a:solidFill>
              </a:rPr>
              <a:t>kubernetes</a:t>
            </a:r>
            <a:r>
              <a:rPr lang="ja-JP" altLang="en-US" sz="1400">
                <a:solidFill>
                  <a:schemeClr val="tx1"/>
                </a:solidFill>
              </a:rPr>
              <a:t>など</a:t>
            </a:r>
            <a:r>
              <a:rPr lang="en-US" altLang="ja-JP" sz="1400">
                <a:solidFill>
                  <a:schemeClr val="tx1"/>
                </a:solidFill>
              </a:rPr>
              <a:t>)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70C0E493-3263-BDAF-30D4-A63FFD899BD1}"/>
              </a:ext>
            </a:extLst>
          </p:cNvPr>
          <p:cNvSpPr/>
          <p:nvPr/>
        </p:nvSpPr>
        <p:spPr>
          <a:xfrm>
            <a:off x="9790545" y="1163785"/>
            <a:ext cx="2299855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API</a:t>
            </a:r>
            <a:r>
              <a:rPr lang="ja-JP" altLang="en-US" sz="1400">
                <a:solidFill>
                  <a:schemeClr val="tx1"/>
                </a:solidFill>
              </a:rPr>
              <a:t>実装</a:t>
            </a:r>
            <a:endParaRPr lang="en-US" altLang="ja-JP" sz="140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(API</a:t>
            </a:r>
            <a:r>
              <a:rPr kumimoji="1" lang="ja-JP" altLang="en-US" sz="1400">
                <a:solidFill>
                  <a:schemeClr val="tx1"/>
                </a:solidFill>
              </a:rPr>
              <a:t>の処理ロジックを持つアプリケーション</a:t>
            </a:r>
            <a:r>
              <a:rPr kumimoji="1" lang="en-US" altLang="ja-JP" sz="1400">
                <a:solidFill>
                  <a:schemeClr val="tx1"/>
                </a:solidFill>
              </a:rPr>
              <a:t>)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9E1A3A4-6E7E-0EF3-EDBE-32B38DB4EA81}"/>
              </a:ext>
            </a:extLst>
          </p:cNvPr>
          <p:cNvSpPr/>
          <p:nvPr/>
        </p:nvSpPr>
        <p:spPr>
          <a:xfrm>
            <a:off x="7139711" y="5142339"/>
            <a:ext cx="2299855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OS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7B0A7DD-8AAD-C664-563F-CAF5526BBE21}"/>
              </a:ext>
            </a:extLst>
          </p:cNvPr>
          <p:cNvSpPr/>
          <p:nvPr/>
        </p:nvSpPr>
        <p:spPr>
          <a:xfrm>
            <a:off x="7139711" y="2641040"/>
            <a:ext cx="2299855" cy="3786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Kong Gatew</a:t>
            </a:r>
            <a:r>
              <a:rPr lang="en-US" altLang="ja-JP" sz="1400">
                <a:solidFill>
                  <a:schemeClr val="tx1"/>
                </a:solidFill>
              </a:rPr>
              <a:t>ay DP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E87571F-A02E-5017-5CC5-7E2BB2D4BEA2}"/>
              </a:ext>
            </a:extLst>
          </p:cNvPr>
          <p:cNvSpPr/>
          <p:nvPr/>
        </p:nvSpPr>
        <p:spPr>
          <a:xfrm>
            <a:off x="7167421" y="3019724"/>
            <a:ext cx="2299855" cy="903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200">
                <a:solidFill>
                  <a:schemeClr val="tx1"/>
                </a:solidFill>
              </a:rPr>
              <a:t>標準プラグイン</a:t>
            </a:r>
            <a:endParaRPr kumimoji="1" lang="en-US" altLang="ja-JP" sz="12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200">
                <a:solidFill>
                  <a:schemeClr val="tx1"/>
                </a:solidFill>
              </a:rPr>
              <a:t>カスタムプラグイン</a:t>
            </a:r>
            <a:endParaRPr lang="en-US" altLang="ja-JP" sz="12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sz="1200" err="1">
                <a:solidFill>
                  <a:schemeClr val="tx1"/>
                </a:solidFill>
              </a:rPr>
              <a:t>lua</a:t>
            </a:r>
            <a:r>
              <a:rPr kumimoji="1" lang="ja-JP" altLang="en-US" sz="1200">
                <a:solidFill>
                  <a:schemeClr val="tx1"/>
                </a:solidFill>
              </a:rPr>
              <a:t>実行環境</a:t>
            </a:r>
            <a:endParaRPr kumimoji="1" lang="en-US" altLang="ja-JP" sz="12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200">
                <a:solidFill>
                  <a:schemeClr val="tx1"/>
                </a:solidFill>
              </a:rPr>
              <a:t>API</a:t>
            </a:r>
            <a:r>
              <a:rPr lang="ja-JP" altLang="en-US" sz="1200">
                <a:solidFill>
                  <a:schemeClr val="tx1"/>
                </a:solidFill>
              </a:rPr>
              <a:t>ルーティング</a:t>
            </a:r>
            <a:endParaRPr kumimoji="1" lang="en-US" altLang="ja-JP" sz="1200">
              <a:solidFill>
                <a:schemeClr val="tx1"/>
              </a:solidFill>
            </a:endParaRPr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2A0D1555-5FD3-C960-3517-ADB63127DCC4}"/>
              </a:ext>
            </a:extLst>
          </p:cNvPr>
          <p:cNvCxnSpPr>
            <a:cxnSpLocks/>
          </p:cNvCxnSpPr>
          <p:nvPr/>
        </p:nvCxnSpPr>
        <p:spPr>
          <a:xfrm>
            <a:off x="9624291" y="1159164"/>
            <a:ext cx="92365" cy="52693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B35F5992-293C-B646-A5A5-E247A07EB552}"/>
              </a:ext>
            </a:extLst>
          </p:cNvPr>
          <p:cNvCxnSpPr>
            <a:cxnSpLocks/>
            <a:stCxn id="62" idx="3"/>
            <a:endCxn id="56" idx="2"/>
          </p:cNvCxnSpPr>
          <p:nvPr/>
        </p:nvCxnSpPr>
        <p:spPr>
          <a:xfrm flipV="1">
            <a:off x="9439566" y="1773385"/>
            <a:ext cx="1500907" cy="10569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吹き出し: 四角形 73">
            <a:extLst>
              <a:ext uri="{FF2B5EF4-FFF2-40B4-BE49-F238E27FC236}">
                <a16:creationId xmlns:a16="http://schemas.microsoft.com/office/drawing/2014/main" id="{86EE75E6-62EE-6802-D291-332D9B213638}"/>
              </a:ext>
            </a:extLst>
          </p:cNvPr>
          <p:cNvSpPr/>
          <p:nvPr/>
        </p:nvSpPr>
        <p:spPr>
          <a:xfrm>
            <a:off x="9901381" y="3012799"/>
            <a:ext cx="2031999" cy="457763"/>
          </a:xfrm>
          <a:prstGeom prst="wedgeRectCallout">
            <a:avLst>
              <a:gd name="adj1" fmla="val 9042"/>
              <a:gd name="adj2" fmla="val -8479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ネットワークを介して接続される別コンポーネント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B0CC64C6-B953-DDFC-6EE8-37F3A7049A71}"/>
              </a:ext>
            </a:extLst>
          </p:cNvPr>
          <p:cNvSpPr txBox="1"/>
          <p:nvPr/>
        </p:nvSpPr>
        <p:spPr>
          <a:xfrm>
            <a:off x="9873671" y="2399495"/>
            <a:ext cx="11176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/>
              <a:t>API</a:t>
            </a:r>
            <a:r>
              <a:rPr kumimoji="1" lang="ja-JP" altLang="en-US" sz="1100"/>
              <a:t>リクエスト</a:t>
            </a:r>
            <a:endParaRPr kumimoji="1" lang="en-US" altLang="ja-JP" sz="1100"/>
          </a:p>
          <a:p>
            <a:r>
              <a:rPr kumimoji="1" lang="en-US" altLang="ja-JP" sz="1100"/>
              <a:t>/</a:t>
            </a:r>
            <a:r>
              <a:rPr kumimoji="1" lang="ja-JP" altLang="en-US" sz="1100"/>
              <a:t>レスポンス</a:t>
            </a: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20E7A9D2-E411-4DA1-9D37-453B5F18EBCE}"/>
              </a:ext>
            </a:extLst>
          </p:cNvPr>
          <p:cNvCxnSpPr/>
          <p:nvPr/>
        </p:nvCxnSpPr>
        <p:spPr>
          <a:xfrm>
            <a:off x="1657921" y="1671195"/>
            <a:ext cx="0" cy="60960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7E11C7E3-DAC5-59E9-DB92-DD46E03FC113}"/>
              </a:ext>
            </a:extLst>
          </p:cNvPr>
          <p:cNvCxnSpPr>
            <a:cxnSpLocks/>
          </p:cNvCxnSpPr>
          <p:nvPr/>
        </p:nvCxnSpPr>
        <p:spPr>
          <a:xfrm>
            <a:off x="1657923" y="2729337"/>
            <a:ext cx="0" cy="131213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08CD2483-E65E-2CA3-8712-D638FC3D39F3}"/>
              </a:ext>
            </a:extLst>
          </p:cNvPr>
          <p:cNvCxnSpPr>
            <a:cxnSpLocks/>
          </p:cNvCxnSpPr>
          <p:nvPr/>
        </p:nvCxnSpPr>
        <p:spPr>
          <a:xfrm>
            <a:off x="1657923" y="4732472"/>
            <a:ext cx="0" cy="1924628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17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F3735462-A893-4DF8-A946-0149386E9867}"/>
              </a:ext>
            </a:extLst>
          </p:cNvPr>
          <p:cNvSpPr/>
          <p:nvPr/>
        </p:nvSpPr>
        <p:spPr>
          <a:xfrm>
            <a:off x="3066473" y="1727200"/>
            <a:ext cx="6122501" cy="2706255"/>
          </a:xfrm>
          <a:prstGeom prst="round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8F6B518-B9EB-1D96-925C-28B97448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13" y="136525"/>
            <a:ext cx="11693542" cy="743369"/>
          </a:xfrm>
        </p:spPr>
        <p:txBody>
          <a:bodyPr>
            <a:normAutofit/>
          </a:bodyPr>
          <a:lstStyle/>
          <a:p>
            <a:r>
              <a:rPr lang="en-US" altLang="ja-JP" sz="3200"/>
              <a:t>Web</a:t>
            </a:r>
            <a:r>
              <a:rPr lang="ja-JP" altLang="en-US" sz="3200"/>
              <a:t>アプリケーションのレイヤードアーキテクチャ</a:t>
            </a:r>
            <a:endParaRPr kumimoji="1" lang="ja-JP" altLang="en-US" sz="320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367E8F-73A7-6E1D-1124-B97C89F7B98F}"/>
              </a:ext>
            </a:extLst>
          </p:cNvPr>
          <p:cNvSpPr/>
          <p:nvPr/>
        </p:nvSpPr>
        <p:spPr>
          <a:xfrm>
            <a:off x="770143" y="2318330"/>
            <a:ext cx="942109" cy="1294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chemeClr val="tx1"/>
                </a:solidFill>
              </a:rPr>
              <a:t>client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362681-5C22-7B83-2744-E71F41667CAF}"/>
              </a:ext>
            </a:extLst>
          </p:cNvPr>
          <p:cNvSpPr/>
          <p:nvPr/>
        </p:nvSpPr>
        <p:spPr>
          <a:xfrm>
            <a:off x="3543453" y="2318329"/>
            <a:ext cx="1191491" cy="4895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chemeClr val="tx1"/>
                </a:solidFill>
              </a:rPr>
              <a:t>Controller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7CE6C7-180C-41EC-C5E9-AF0A3FB9C298}"/>
              </a:ext>
            </a:extLst>
          </p:cNvPr>
          <p:cNvSpPr/>
          <p:nvPr/>
        </p:nvSpPr>
        <p:spPr>
          <a:xfrm>
            <a:off x="5426363" y="2318329"/>
            <a:ext cx="1191491" cy="4895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Service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A54FDDA-C50A-9DB4-6F67-94378DB12CB4}"/>
              </a:ext>
            </a:extLst>
          </p:cNvPr>
          <p:cNvSpPr/>
          <p:nvPr/>
        </p:nvSpPr>
        <p:spPr>
          <a:xfrm>
            <a:off x="7309273" y="2318329"/>
            <a:ext cx="1422400" cy="4895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Repository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0828275-3274-EEAA-C82F-9FF709602483}"/>
              </a:ext>
            </a:extLst>
          </p:cNvPr>
          <p:cNvSpPr/>
          <p:nvPr/>
        </p:nvSpPr>
        <p:spPr>
          <a:xfrm>
            <a:off x="3543452" y="3122879"/>
            <a:ext cx="1191491" cy="4895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View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磁気ディスク 8">
            <a:extLst>
              <a:ext uri="{FF2B5EF4-FFF2-40B4-BE49-F238E27FC236}">
                <a16:creationId xmlns:a16="http://schemas.microsoft.com/office/drawing/2014/main" id="{652ADA01-7EF4-25A6-51BD-4AF70A841D96}"/>
              </a:ext>
            </a:extLst>
          </p:cNvPr>
          <p:cNvSpPr/>
          <p:nvPr/>
        </p:nvSpPr>
        <p:spPr>
          <a:xfrm>
            <a:off x="10201258" y="2247901"/>
            <a:ext cx="942109" cy="630382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DB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4E775E9-22D3-9DAC-9789-738302D77D26}"/>
              </a:ext>
            </a:extLst>
          </p:cNvPr>
          <p:cNvCxnSpPr>
            <a:cxnSpLocks/>
            <a:stCxn id="7" idx="3"/>
            <a:endCxn id="9" idx="2"/>
          </p:cNvCxnSpPr>
          <p:nvPr/>
        </p:nvCxnSpPr>
        <p:spPr>
          <a:xfrm>
            <a:off x="8731673" y="2563092"/>
            <a:ext cx="1469585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CEA874A-ADD1-2EA9-BA6C-B69E3684486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617854" y="2563092"/>
            <a:ext cx="6914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5134509-9594-AE01-E4DE-C7D1CE95903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734944" y="2563092"/>
            <a:ext cx="6914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A6FBDD7-B845-7C31-2454-4B1FB93C44E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712251" y="2563092"/>
            <a:ext cx="1831202" cy="18474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29EBB67-B5C2-38A2-C0BA-A374843B50B5}"/>
              </a:ext>
            </a:extLst>
          </p:cNvPr>
          <p:cNvSpPr txBox="1"/>
          <p:nvPr/>
        </p:nvSpPr>
        <p:spPr>
          <a:xfrm>
            <a:off x="1809979" y="2311361"/>
            <a:ext cx="1582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/>
              <a:t>HTTP</a:t>
            </a:r>
            <a:r>
              <a:rPr kumimoji="1" lang="ja-JP" altLang="en-US" sz="1200"/>
              <a:t>リクエスト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96EC7972-D70C-DF61-B558-49633EC45DE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712251" y="3367642"/>
            <a:ext cx="1831201" cy="2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367CD4C-F913-DD09-483D-CDE167FEB3B6}"/>
              </a:ext>
            </a:extLst>
          </p:cNvPr>
          <p:cNvSpPr txBox="1"/>
          <p:nvPr/>
        </p:nvSpPr>
        <p:spPr>
          <a:xfrm>
            <a:off x="1739803" y="3381233"/>
            <a:ext cx="1582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/>
              <a:t>HTTP</a:t>
            </a:r>
            <a:r>
              <a:rPr lang="ja-JP" altLang="en-US" sz="1200"/>
              <a:t>レスポンス</a:t>
            </a:r>
            <a:endParaRPr kumimoji="1" lang="ja-JP" altLang="en-US" sz="1200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98F049BA-50D8-8C3E-A7C0-9AEC0236CAB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4139198" y="2807855"/>
            <a:ext cx="1" cy="315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E9CBE97-0C4B-7944-B72A-388BBED86893}"/>
              </a:ext>
            </a:extLst>
          </p:cNvPr>
          <p:cNvSpPr txBox="1"/>
          <p:nvPr/>
        </p:nvSpPr>
        <p:spPr>
          <a:xfrm>
            <a:off x="8912847" y="2304567"/>
            <a:ext cx="1020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/>
              <a:t>DB</a:t>
            </a:r>
            <a:r>
              <a:rPr lang="ja-JP" altLang="en-US" sz="1200"/>
              <a:t>アクセス</a:t>
            </a:r>
            <a:endParaRPr kumimoji="1" lang="ja-JP" altLang="en-US" sz="120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513EE28-519B-F683-A559-DEBDDE7D9EDF}"/>
              </a:ext>
            </a:extLst>
          </p:cNvPr>
          <p:cNvSpPr txBox="1"/>
          <p:nvPr/>
        </p:nvSpPr>
        <p:spPr>
          <a:xfrm>
            <a:off x="3285438" y="1785977"/>
            <a:ext cx="289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Web</a:t>
            </a:r>
            <a:r>
              <a:rPr kumimoji="1" lang="ja-JP" altLang="en-US" sz="16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アプリケーション</a:t>
            </a:r>
          </a:p>
        </p:txBody>
      </p:sp>
    </p:spTree>
    <p:extLst>
      <p:ext uri="{BB962C8B-B14F-4D97-AF65-F5344CB8AC3E}">
        <p14:creationId xmlns:p14="http://schemas.microsoft.com/office/powerpoint/2010/main" val="325016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02B10-EF1F-27C4-CFE2-3D3F7083E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45" y="1848366"/>
            <a:ext cx="10954310" cy="2447187"/>
          </a:xfrm>
        </p:spPr>
        <p:txBody>
          <a:bodyPr>
            <a:normAutofit/>
          </a:bodyPr>
          <a:lstStyle/>
          <a:p>
            <a:r>
              <a:rPr kumimoji="1" lang="en-US" altLang="ja-JP" sz="6000"/>
              <a:t>ToDo</a:t>
            </a:r>
            <a:r>
              <a:rPr kumimoji="1" lang="ja-JP" altLang="en-US" sz="6000"/>
              <a:t>アプリケーションの設計</a:t>
            </a:r>
          </a:p>
        </p:txBody>
      </p:sp>
    </p:spTree>
    <p:extLst>
      <p:ext uri="{BB962C8B-B14F-4D97-AF65-F5344CB8AC3E}">
        <p14:creationId xmlns:p14="http://schemas.microsoft.com/office/powerpoint/2010/main" val="413562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1BF4E5-EC1A-CB6A-DFD6-C7E40270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ER</a:t>
            </a:r>
            <a:r>
              <a:rPr kumimoji="1" lang="ja-JP" altLang="en-US"/>
              <a:t>図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9425AF5-305D-C103-C968-A03F6D7A50EE}"/>
              </a:ext>
            </a:extLst>
          </p:cNvPr>
          <p:cNvSpPr/>
          <p:nvPr/>
        </p:nvSpPr>
        <p:spPr>
          <a:xfrm>
            <a:off x="340242" y="2830517"/>
            <a:ext cx="3262433" cy="3888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err="1">
                <a:solidFill>
                  <a:schemeClr val="bg1"/>
                </a:solidFill>
              </a:rPr>
              <a:t>u</a:t>
            </a:r>
            <a:r>
              <a:rPr kumimoji="1" lang="en-US" altLang="ja-JP" b="1" err="1">
                <a:solidFill>
                  <a:schemeClr val="bg1"/>
                </a:solidFill>
              </a:rPr>
              <a:t>ser_account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D51D1F7-5984-2C25-EADD-D345F0690252}"/>
              </a:ext>
            </a:extLst>
          </p:cNvPr>
          <p:cNvSpPr/>
          <p:nvPr/>
        </p:nvSpPr>
        <p:spPr>
          <a:xfrm>
            <a:off x="4578130" y="2830517"/>
            <a:ext cx="3262433" cy="3888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err="1">
                <a:solidFill>
                  <a:schemeClr val="bg1"/>
                </a:solidFill>
              </a:rPr>
              <a:t>todos_list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469875A4-F0BE-EA88-2A0D-D714249A020A}"/>
              </a:ext>
            </a:extLst>
          </p:cNvPr>
          <p:cNvCxnSpPr>
            <a:cxnSpLocks/>
            <a:stCxn id="35" idx="3"/>
            <a:endCxn id="48" idx="1"/>
          </p:cNvCxnSpPr>
          <p:nvPr/>
        </p:nvCxnSpPr>
        <p:spPr>
          <a:xfrm>
            <a:off x="3602675" y="3024959"/>
            <a:ext cx="97545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表 68">
            <a:extLst>
              <a:ext uri="{FF2B5EF4-FFF2-40B4-BE49-F238E27FC236}">
                <a16:creationId xmlns:a16="http://schemas.microsoft.com/office/drawing/2014/main" id="{FDD98DD6-B57F-76A0-2B63-8A4071613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28117"/>
              </p:ext>
            </p:extLst>
          </p:nvPr>
        </p:nvGraphicFramePr>
        <p:xfrm>
          <a:off x="340242" y="3219400"/>
          <a:ext cx="326243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356">
                  <a:extLst>
                    <a:ext uri="{9D8B030D-6E8A-4147-A177-3AD203B41FA5}">
                      <a16:colId xmlns:a16="http://schemas.microsoft.com/office/drawing/2014/main" val="2366274121"/>
                    </a:ext>
                  </a:extLst>
                </a:gridCol>
                <a:gridCol w="1578077">
                  <a:extLst>
                    <a:ext uri="{9D8B030D-6E8A-4147-A177-3AD203B41FA5}">
                      <a16:colId xmlns:a16="http://schemas.microsoft.com/office/drawing/2014/main" val="3707598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user_id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PK,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自動採番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56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user_name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400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password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811068"/>
                  </a:ext>
                </a:extLst>
              </a:tr>
            </a:tbl>
          </a:graphicData>
        </a:graphic>
      </p:graphicFrame>
      <p:graphicFrame>
        <p:nvGraphicFramePr>
          <p:cNvPr id="72" name="表 71">
            <a:extLst>
              <a:ext uri="{FF2B5EF4-FFF2-40B4-BE49-F238E27FC236}">
                <a16:creationId xmlns:a16="http://schemas.microsoft.com/office/drawing/2014/main" id="{1556F13F-9515-4C5E-FE66-BCC05085E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845435"/>
              </p:ext>
            </p:extLst>
          </p:nvPr>
        </p:nvGraphicFramePr>
        <p:xfrm>
          <a:off x="4578130" y="3219400"/>
          <a:ext cx="32624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356">
                  <a:extLst>
                    <a:ext uri="{9D8B030D-6E8A-4147-A177-3AD203B41FA5}">
                      <a16:colId xmlns:a16="http://schemas.microsoft.com/office/drawing/2014/main" val="2366274121"/>
                    </a:ext>
                  </a:extLst>
                </a:gridCol>
                <a:gridCol w="1578077">
                  <a:extLst>
                    <a:ext uri="{9D8B030D-6E8A-4147-A177-3AD203B41FA5}">
                      <a16:colId xmlns:a16="http://schemas.microsoft.com/office/drawing/2014/main" val="3707598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user_id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FK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9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list_id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PK,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自動採番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56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list_name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27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time_stamp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605656"/>
                  </a:ext>
                </a:extLst>
              </a:tr>
            </a:tbl>
          </a:graphicData>
        </a:graphic>
      </p:graphicFrame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2CAE731-7FEC-E41E-4CD8-670F3AA9AD13}"/>
              </a:ext>
            </a:extLst>
          </p:cNvPr>
          <p:cNvSpPr txBox="1"/>
          <p:nvPr/>
        </p:nvSpPr>
        <p:spPr>
          <a:xfrm>
            <a:off x="4048498" y="265562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0..n</a:t>
            </a:r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7D24CC24-9D7F-7A4B-E78E-E2BDFA4AB8D9}"/>
              </a:ext>
            </a:extLst>
          </p:cNvPr>
          <p:cNvSpPr/>
          <p:nvPr/>
        </p:nvSpPr>
        <p:spPr>
          <a:xfrm>
            <a:off x="8634413" y="2830517"/>
            <a:ext cx="3262433" cy="38888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</a:rPr>
              <a:t>todos</a:t>
            </a:r>
            <a:endParaRPr kumimoji="1" lang="ja-JP" altLang="en-US" b="1">
              <a:solidFill>
                <a:schemeClr val="bg1"/>
              </a:solidFill>
            </a:endParaRPr>
          </a:p>
        </p:txBody>
      </p:sp>
      <p:graphicFrame>
        <p:nvGraphicFramePr>
          <p:cNvPr id="92" name="表 91">
            <a:extLst>
              <a:ext uri="{FF2B5EF4-FFF2-40B4-BE49-F238E27FC236}">
                <a16:creationId xmlns:a16="http://schemas.microsoft.com/office/drawing/2014/main" id="{DED97B00-7C95-B472-9B0B-A749D9892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726037"/>
              </p:ext>
            </p:extLst>
          </p:nvPr>
        </p:nvGraphicFramePr>
        <p:xfrm>
          <a:off x="8634413" y="3219400"/>
          <a:ext cx="3262433" cy="2235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356">
                  <a:extLst>
                    <a:ext uri="{9D8B030D-6E8A-4147-A177-3AD203B41FA5}">
                      <a16:colId xmlns:a16="http://schemas.microsoft.com/office/drawing/2014/main" val="2366274121"/>
                    </a:ext>
                  </a:extLst>
                </a:gridCol>
                <a:gridCol w="1578077">
                  <a:extLst>
                    <a:ext uri="{9D8B030D-6E8A-4147-A177-3AD203B41FA5}">
                      <a16:colId xmlns:a16="http://schemas.microsoft.com/office/drawing/2014/main" val="3707598974"/>
                    </a:ext>
                  </a:extLst>
                </a:gridCol>
              </a:tblGrid>
              <a:tr h="380985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todo_id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PK, </a:t>
                      </a:r>
                      <a:r>
                        <a:rPr kumimoji="1" lang="ja-JP" altLang="en-US" b="0">
                          <a:solidFill>
                            <a:schemeClr val="tx1"/>
                          </a:solidFill>
                        </a:rPr>
                        <a:t>自動採番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91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list_id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FK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0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todo_title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56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todo_detail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35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todo_status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526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>
                          <a:solidFill>
                            <a:schemeClr val="tx1"/>
                          </a:solidFill>
                        </a:rPr>
                        <a:t>time_stamp</a:t>
                      </a:r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9197"/>
                  </a:ext>
                </a:extLst>
              </a:tr>
            </a:tbl>
          </a:graphicData>
        </a:graphic>
      </p:graphicFrame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EDCFA1A-EA43-1AD6-C3C7-2F33EDDF375E}"/>
              </a:ext>
            </a:extLst>
          </p:cNvPr>
          <p:cNvCxnSpPr>
            <a:cxnSpLocks/>
            <a:stCxn id="48" idx="3"/>
            <a:endCxn id="89" idx="1"/>
          </p:cNvCxnSpPr>
          <p:nvPr/>
        </p:nvCxnSpPr>
        <p:spPr>
          <a:xfrm>
            <a:off x="7840563" y="3024959"/>
            <a:ext cx="7938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689D071-36BE-DF6A-AD02-7B9A15D6093C}"/>
              </a:ext>
            </a:extLst>
          </p:cNvPr>
          <p:cNvSpPr txBox="1"/>
          <p:nvPr/>
        </p:nvSpPr>
        <p:spPr>
          <a:xfrm>
            <a:off x="8147561" y="264585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0..n</a:t>
            </a:r>
            <a:endParaRPr kumimoji="1" lang="ja-JP" altLang="en-US"/>
          </a:p>
        </p:txBody>
      </p:sp>
      <p:sp>
        <p:nvSpPr>
          <p:cNvPr id="108" name="吹き出し: 折線 107">
            <a:extLst>
              <a:ext uri="{FF2B5EF4-FFF2-40B4-BE49-F238E27FC236}">
                <a16:creationId xmlns:a16="http://schemas.microsoft.com/office/drawing/2014/main" id="{A0BFB86B-6421-77C0-D0E2-6420A22BB69D}"/>
              </a:ext>
            </a:extLst>
          </p:cNvPr>
          <p:cNvSpPr/>
          <p:nvPr/>
        </p:nvSpPr>
        <p:spPr>
          <a:xfrm>
            <a:off x="7851140" y="680182"/>
            <a:ext cx="4295554" cy="1256296"/>
          </a:xfrm>
          <a:prstGeom prst="borderCallout2">
            <a:avLst>
              <a:gd name="adj1" fmla="val 106769"/>
              <a:gd name="adj2" fmla="val 38449"/>
              <a:gd name="adj3" fmla="val 121157"/>
              <a:gd name="adj4" fmla="val 28382"/>
              <a:gd name="adj5" fmla="val 204751"/>
              <a:gd name="adj6" fmla="val 2511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</a:rPr>
              <a:t>本来は</a:t>
            </a:r>
            <a:r>
              <a:rPr kumimoji="1" lang="en-US" altLang="ja-JP" sz="1400">
                <a:solidFill>
                  <a:schemeClr val="tx1"/>
                </a:solidFill>
              </a:rPr>
              <a:t>todo_id</a:t>
            </a:r>
            <a:r>
              <a:rPr kumimoji="1" lang="ja-JP" altLang="en-US" sz="1400">
                <a:solidFill>
                  <a:schemeClr val="tx1"/>
                </a:solidFill>
              </a:rPr>
              <a:t>と</a:t>
            </a:r>
            <a:r>
              <a:rPr kumimoji="1" lang="en-US" altLang="ja-JP" sz="1400">
                <a:solidFill>
                  <a:schemeClr val="tx1"/>
                </a:solidFill>
              </a:rPr>
              <a:t>list_id</a:t>
            </a:r>
            <a:r>
              <a:rPr kumimoji="1" lang="ja-JP" altLang="en-US" sz="1400">
                <a:solidFill>
                  <a:schemeClr val="tx1"/>
                </a:solidFill>
              </a:rPr>
              <a:t>を複合主キーにして、各</a:t>
            </a:r>
            <a:r>
              <a:rPr kumimoji="1" lang="en-US" altLang="ja-JP" sz="1400">
                <a:solidFill>
                  <a:schemeClr val="tx1"/>
                </a:solidFill>
              </a:rPr>
              <a:t>list</a:t>
            </a:r>
            <a:r>
              <a:rPr kumimoji="1" lang="ja-JP" altLang="en-US" sz="1400">
                <a:solidFill>
                  <a:schemeClr val="tx1"/>
                </a:solidFill>
              </a:rPr>
              <a:t>内において</a:t>
            </a:r>
            <a:r>
              <a:rPr kumimoji="1" lang="en-US" altLang="ja-JP" sz="1400">
                <a:solidFill>
                  <a:schemeClr val="tx1"/>
                </a:solidFill>
              </a:rPr>
              <a:t>todo_id</a:t>
            </a:r>
            <a:r>
              <a:rPr kumimoji="1" lang="ja-JP" altLang="en-US" sz="1400">
                <a:solidFill>
                  <a:schemeClr val="tx1"/>
                </a:solidFill>
              </a:rPr>
              <a:t>を自動採番したいが、</a:t>
            </a:r>
            <a:r>
              <a:rPr lang="en-US" altLang="ja-JP" sz="1400">
                <a:solidFill>
                  <a:schemeClr val="tx1"/>
                </a:solidFill>
              </a:rPr>
              <a:t>P</a:t>
            </a:r>
            <a:r>
              <a:rPr kumimoji="1" lang="en-US" altLang="ja-JP" sz="1400">
                <a:solidFill>
                  <a:schemeClr val="tx1"/>
                </a:solidFill>
              </a:rPr>
              <a:t>ostgreSQL</a:t>
            </a:r>
            <a:r>
              <a:rPr kumimoji="1" lang="ja-JP" altLang="en-US" sz="1400">
                <a:solidFill>
                  <a:schemeClr val="tx1"/>
                </a:solidFill>
              </a:rPr>
              <a:t>の</a:t>
            </a:r>
            <a:r>
              <a:rPr kumimoji="1" lang="en-US" altLang="ja-JP" sz="1400">
                <a:solidFill>
                  <a:schemeClr val="tx1"/>
                </a:solidFill>
              </a:rPr>
              <a:t>IDENTITY</a:t>
            </a:r>
            <a:r>
              <a:rPr kumimoji="1" lang="ja-JP" altLang="en-US" sz="1400">
                <a:solidFill>
                  <a:schemeClr val="tx1"/>
                </a:solidFill>
              </a:rPr>
              <a:t>の仕様上、テーブル</a:t>
            </a:r>
            <a:r>
              <a:rPr kumimoji="1" lang="en-US" altLang="ja-JP" sz="1400">
                <a:solidFill>
                  <a:schemeClr val="tx1"/>
                </a:solidFill>
              </a:rPr>
              <a:t>(todos)</a:t>
            </a:r>
            <a:r>
              <a:rPr kumimoji="1" lang="ja-JP" altLang="en-US" sz="1400">
                <a:solidFill>
                  <a:schemeClr val="tx1"/>
                </a:solidFill>
              </a:rPr>
              <a:t>全体で連番が振られてしまい、各</a:t>
            </a:r>
            <a:r>
              <a:rPr kumimoji="1" lang="en-US" altLang="ja-JP" sz="1400">
                <a:solidFill>
                  <a:schemeClr val="tx1"/>
                </a:solidFill>
              </a:rPr>
              <a:t>list</a:t>
            </a:r>
            <a:r>
              <a:rPr lang="ja-JP" altLang="en-US" sz="1400">
                <a:solidFill>
                  <a:schemeClr val="tx1"/>
                </a:solidFill>
              </a:rPr>
              <a:t>毎の自動採番が少し面倒なので、</a:t>
            </a:r>
            <a:r>
              <a:rPr lang="en-US" altLang="ja-JP" sz="1400">
                <a:solidFill>
                  <a:schemeClr val="tx1"/>
                </a:solidFill>
              </a:rPr>
              <a:t>todo_id</a:t>
            </a:r>
            <a:r>
              <a:rPr lang="ja-JP" altLang="en-US" sz="1400">
                <a:solidFill>
                  <a:schemeClr val="tx1"/>
                </a:solidFill>
              </a:rPr>
              <a:t>を</a:t>
            </a:r>
            <a:r>
              <a:rPr lang="en-US" altLang="ja-JP" sz="1400">
                <a:solidFill>
                  <a:schemeClr val="tx1"/>
                </a:solidFill>
              </a:rPr>
              <a:t>PK</a:t>
            </a:r>
            <a:r>
              <a:rPr lang="ja-JP" altLang="en-US" sz="1400">
                <a:solidFill>
                  <a:schemeClr val="tx1"/>
                </a:solidFill>
              </a:rPr>
              <a:t>としている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D93006F2-EC75-AD0F-F6FB-06B68C792F48}"/>
              </a:ext>
            </a:extLst>
          </p:cNvPr>
          <p:cNvSpPr txBox="1"/>
          <p:nvPr/>
        </p:nvSpPr>
        <p:spPr>
          <a:xfrm>
            <a:off x="3648619" y="263607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1756B98A-2D55-ACBF-5B1C-BA7689FB4FF7}"/>
              </a:ext>
            </a:extLst>
          </p:cNvPr>
          <p:cNvSpPr txBox="1"/>
          <p:nvPr/>
        </p:nvSpPr>
        <p:spPr>
          <a:xfrm>
            <a:off x="7788711" y="264585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41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BC2B0C-B1CC-1316-E6FF-240BBC6D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9B32294-A169-8724-F224-051CBE552C25}"/>
              </a:ext>
            </a:extLst>
          </p:cNvPr>
          <p:cNvSpPr/>
          <p:nvPr/>
        </p:nvSpPr>
        <p:spPr>
          <a:xfrm>
            <a:off x="499730" y="2525233"/>
            <a:ext cx="2764465" cy="903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400">
                <a:solidFill>
                  <a:schemeClr val="tx1"/>
                </a:solidFill>
              </a:rPr>
              <a:t>「</a:t>
            </a:r>
            <a:r>
              <a:rPr kumimoji="1" lang="en-US" altLang="ja-JP" sz="1400">
                <a:solidFill>
                  <a:schemeClr val="tx1"/>
                </a:solidFill>
              </a:rPr>
              <a:t>username</a:t>
            </a:r>
            <a:r>
              <a:rPr kumimoji="1" lang="ja-JP" altLang="en-US" sz="1400">
                <a:solidFill>
                  <a:schemeClr val="tx1"/>
                </a:solidFill>
              </a:rPr>
              <a:t>」入力ボックス</a:t>
            </a:r>
            <a:endParaRPr kumimoji="1"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/>
                </a:solidFill>
              </a:rPr>
              <a:t>「</a:t>
            </a:r>
            <a:r>
              <a:rPr lang="en-US" altLang="ja-JP" sz="1400">
                <a:solidFill>
                  <a:schemeClr val="tx1"/>
                </a:solidFill>
              </a:rPr>
              <a:t>password</a:t>
            </a:r>
            <a:r>
              <a:rPr lang="ja-JP" altLang="en-US" sz="1400">
                <a:solidFill>
                  <a:schemeClr val="tx1"/>
                </a:solidFill>
              </a:rPr>
              <a:t>」入力ボックス</a:t>
            </a:r>
            <a:endParaRPr kumimoji="1"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400">
                <a:solidFill>
                  <a:schemeClr val="tx1"/>
                </a:solidFill>
              </a:rPr>
              <a:t>「ログイン」ボタン</a:t>
            </a:r>
            <a:endParaRPr kumimoji="1"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/>
                </a:solidFill>
              </a:rPr>
              <a:t>「新規登録」ボタン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B9DA55-C30D-BBBB-0EB8-DE5AFAA8CAA1}"/>
              </a:ext>
            </a:extLst>
          </p:cNvPr>
          <p:cNvSpPr txBox="1"/>
          <p:nvPr/>
        </p:nvSpPr>
        <p:spPr>
          <a:xfrm>
            <a:off x="4032280" y="2155901"/>
            <a:ext cx="222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リスト</a:t>
            </a:r>
            <a:r>
              <a:rPr kumimoji="1" lang="ja-JP" altLang="en-US"/>
              <a:t>画面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86549B-D570-8687-6E61-2F640F7197D9}"/>
              </a:ext>
            </a:extLst>
          </p:cNvPr>
          <p:cNvSpPr txBox="1"/>
          <p:nvPr/>
        </p:nvSpPr>
        <p:spPr>
          <a:xfrm>
            <a:off x="499730" y="4011084"/>
            <a:ext cx="18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新規登録画面</a:t>
            </a:r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66CD2DD-41BE-D723-01EA-B0BE9C093040}"/>
              </a:ext>
            </a:extLst>
          </p:cNvPr>
          <p:cNvSpPr/>
          <p:nvPr/>
        </p:nvSpPr>
        <p:spPr>
          <a:xfrm>
            <a:off x="513735" y="4380416"/>
            <a:ext cx="2764465" cy="903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/>
                </a:solidFill>
              </a:rPr>
              <a:t>「</a:t>
            </a:r>
            <a:r>
              <a:rPr lang="en-US" altLang="ja-JP" sz="1400">
                <a:solidFill>
                  <a:schemeClr val="tx1"/>
                </a:solidFill>
              </a:rPr>
              <a:t>username</a:t>
            </a:r>
            <a:r>
              <a:rPr lang="ja-JP" altLang="en-US" sz="1400">
                <a:solidFill>
                  <a:schemeClr val="tx1"/>
                </a:solidFill>
              </a:rPr>
              <a:t>」入力ボックス</a:t>
            </a:r>
            <a:endParaRPr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/>
                </a:solidFill>
              </a:rPr>
              <a:t>「</a:t>
            </a:r>
            <a:r>
              <a:rPr lang="en-US" altLang="ja-JP" sz="1400">
                <a:solidFill>
                  <a:schemeClr val="tx1"/>
                </a:solidFill>
              </a:rPr>
              <a:t>password</a:t>
            </a:r>
            <a:r>
              <a:rPr lang="ja-JP" altLang="en-US" sz="1400">
                <a:solidFill>
                  <a:schemeClr val="tx1"/>
                </a:solidFill>
              </a:rPr>
              <a:t>」入力ボックス</a:t>
            </a:r>
            <a:endParaRPr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/>
                </a:solidFill>
              </a:rPr>
              <a:t>「登録」ボタン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B273AC8-67D7-E7E9-B979-A0AC7454EEB3}"/>
              </a:ext>
            </a:extLst>
          </p:cNvPr>
          <p:cNvCxnSpPr/>
          <p:nvPr/>
        </p:nvCxnSpPr>
        <p:spPr>
          <a:xfrm>
            <a:off x="2715189" y="3429000"/>
            <a:ext cx="0" cy="951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3B4AF7-5747-B1DA-CDD2-49C35C8EC0F9}"/>
              </a:ext>
            </a:extLst>
          </p:cNvPr>
          <p:cNvSpPr txBox="1"/>
          <p:nvPr/>
        </p:nvSpPr>
        <p:spPr>
          <a:xfrm>
            <a:off x="2647258" y="379900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「新規登録」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30F082D-7F5D-2430-6EB6-D0ED42C244D5}"/>
              </a:ext>
            </a:extLst>
          </p:cNvPr>
          <p:cNvSpPr/>
          <p:nvPr/>
        </p:nvSpPr>
        <p:spPr>
          <a:xfrm>
            <a:off x="4032280" y="2525233"/>
            <a:ext cx="2974576" cy="903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400">
                <a:solidFill>
                  <a:schemeClr val="tx1"/>
                </a:solidFill>
              </a:rPr>
              <a:t>「</a:t>
            </a:r>
            <a:r>
              <a:rPr lang="en-US" altLang="ja-JP" sz="1400">
                <a:solidFill>
                  <a:schemeClr val="tx1"/>
                </a:solidFill>
              </a:rPr>
              <a:t>todos</a:t>
            </a:r>
            <a:r>
              <a:rPr kumimoji="1" lang="ja-JP" altLang="en-US" sz="1400">
                <a:solidFill>
                  <a:schemeClr val="tx1"/>
                </a:solidFill>
              </a:rPr>
              <a:t>」ボタンをカード表示</a:t>
            </a:r>
            <a:endParaRPr kumimoji="1"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/>
                </a:solidFill>
              </a:rPr>
              <a:t>「ログアウト」ボタン</a:t>
            </a:r>
            <a:endParaRPr kumimoji="1" lang="en-US" altLang="ja-JP" sz="1400">
              <a:solidFill>
                <a:schemeClr val="tx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DFEC650-7D3F-073E-BB30-EFDB5BD6BD9C}"/>
              </a:ext>
            </a:extLst>
          </p:cNvPr>
          <p:cNvSpPr txBox="1"/>
          <p:nvPr/>
        </p:nvSpPr>
        <p:spPr>
          <a:xfrm>
            <a:off x="417794" y="2158709"/>
            <a:ext cx="222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ログイン画面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66BF9D0-A109-5DFC-2ECD-083895D26BB9}"/>
              </a:ext>
            </a:extLst>
          </p:cNvPr>
          <p:cNvSpPr txBox="1"/>
          <p:nvPr/>
        </p:nvSpPr>
        <p:spPr>
          <a:xfrm>
            <a:off x="7646766" y="2155901"/>
            <a:ext cx="222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todos</a:t>
            </a:r>
            <a:r>
              <a:rPr kumimoji="1" lang="ja-JP" altLang="en-US"/>
              <a:t>画面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9930E83-5C0B-2824-C927-59BDD3A5D1FD}"/>
              </a:ext>
            </a:extLst>
          </p:cNvPr>
          <p:cNvCxnSpPr>
            <a:cxnSpLocks/>
          </p:cNvCxnSpPr>
          <p:nvPr/>
        </p:nvCxnSpPr>
        <p:spPr>
          <a:xfrm>
            <a:off x="3264195" y="2761907"/>
            <a:ext cx="6449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F6D05AF-A7F4-2369-5B71-D2988B3027BE}"/>
              </a:ext>
            </a:extLst>
          </p:cNvPr>
          <p:cNvSpPr txBox="1"/>
          <p:nvPr/>
        </p:nvSpPr>
        <p:spPr>
          <a:xfrm>
            <a:off x="3081383" y="240245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「ログイン」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F12247DD-3867-FE0A-A0A6-7CFE7F3547CD}"/>
              </a:ext>
            </a:extLst>
          </p:cNvPr>
          <p:cNvCxnSpPr>
            <a:cxnSpLocks/>
          </p:cNvCxnSpPr>
          <p:nvPr/>
        </p:nvCxnSpPr>
        <p:spPr>
          <a:xfrm flipH="1">
            <a:off x="3338480" y="3150414"/>
            <a:ext cx="592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02C89C2-8E01-A477-3513-AEFB2E88A6BA}"/>
              </a:ext>
            </a:extLst>
          </p:cNvPr>
          <p:cNvSpPr txBox="1"/>
          <p:nvPr/>
        </p:nvSpPr>
        <p:spPr>
          <a:xfrm>
            <a:off x="3128688" y="3320819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「ログアウト」</a:t>
            </a: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F0635AE9-39AE-6F58-F853-9D08903AA700}"/>
              </a:ext>
            </a:extLst>
          </p:cNvPr>
          <p:cNvCxnSpPr>
            <a:stCxn id="9" idx="3"/>
            <a:endCxn id="17" idx="2"/>
          </p:cNvCxnSpPr>
          <p:nvPr/>
        </p:nvCxnSpPr>
        <p:spPr>
          <a:xfrm flipV="1">
            <a:off x="3278200" y="3429000"/>
            <a:ext cx="2241368" cy="1403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A43B2AF-38C4-53E2-F9FD-6179C755B824}"/>
              </a:ext>
            </a:extLst>
          </p:cNvPr>
          <p:cNvSpPr txBox="1"/>
          <p:nvPr/>
        </p:nvSpPr>
        <p:spPr>
          <a:xfrm>
            <a:off x="3767942" y="489452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「</a:t>
            </a:r>
            <a:r>
              <a:rPr lang="ja-JP" altLang="en-US" sz="1400"/>
              <a:t>登録」</a:t>
            </a:r>
            <a:endParaRPr kumimoji="1" lang="ja-JP" altLang="en-US" sz="140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735A7CA-A5AC-3EC9-FF6B-750657323C87}"/>
              </a:ext>
            </a:extLst>
          </p:cNvPr>
          <p:cNvSpPr/>
          <p:nvPr/>
        </p:nvSpPr>
        <p:spPr>
          <a:xfrm>
            <a:off x="7697737" y="2525232"/>
            <a:ext cx="2974576" cy="9037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400">
                <a:solidFill>
                  <a:schemeClr val="tx1"/>
                </a:solidFill>
              </a:rPr>
              <a:t>「新規」ボタン</a:t>
            </a:r>
            <a:endParaRPr kumimoji="1"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>
                <a:solidFill>
                  <a:schemeClr val="tx1"/>
                </a:solidFill>
              </a:rPr>
              <a:t>todo</a:t>
            </a:r>
            <a:r>
              <a:rPr lang="ja-JP" altLang="en-US" sz="1400">
                <a:solidFill>
                  <a:schemeClr val="tx1"/>
                </a:solidFill>
              </a:rPr>
              <a:t>をリスト表示</a:t>
            </a:r>
            <a:endParaRPr kumimoji="1" lang="en-US" altLang="ja-JP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>
                <a:solidFill>
                  <a:schemeClr val="tx1"/>
                </a:solidFill>
              </a:rPr>
              <a:t>「戻る」ボタン</a:t>
            </a:r>
            <a:endParaRPr kumimoji="1" lang="en-US" altLang="ja-JP" sz="1400">
              <a:solidFill>
                <a:schemeClr val="tx1"/>
              </a:solidFill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F9725F3E-FE36-16C1-D3DC-E91B979F2830}"/>
              </a:ext>
            </a:extLst>
          </p:cNvPr>
          <p:cNvCxnSpPr>
            <a:cxnSpLocks/>
          </p:cNvCxnSpPr>
          <p:nvPr/>
        </p:nvCxnSpPr>
        <p:spPr>
          <a:xfrm flipH="1">
            <a:off x="7006856" y="3114605"/>
            <a:ext cx="592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0F92899-CC86-6E98-E96B-31BE3A709B69}"/>
              </a:ext>
            </a:extLst>
          </p:cNvPr>
          <p:cNvSpPr txBox="1"/>
          <p:nvPr/>
        </p:nvSpPr>
        <p:spPr>
          <a:xfrm>
            <a:off x="6920906" y="332371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「</a:t>
            </a:r>
            <a:r>
              <a:rPr lang="ja-JP" altLang="en-US" sz="1400"/>
              <a:t>戻る」</a:t>
            </a:r>
            <a:endParaRPr kumimoji="1" lang="ja-JP" altLang="en-US" sz="1400"/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BDBEFA03-C67E-F3BC-3AC4-2807AE1E1874}"/>
              </a:ext>
            </a:extLst>
          </p:cNvPr>
          <p:cNvCxnSpPr>
            <a:cxnSpLocks/>
          </p:cNvCxnSpPr>
          <p:nvPr/>
        </p:nvCxnSpPr>
        <p:spPr>
          <a:xfrm>
            <a:off x="7049837" y="2761907"/>
            <a:ext cx="6449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2B8B6E5-E36C-06E8-79C9-7242E898ABF1}"/>
              </a:ext>
            </a:extLst>
          </p:cNvPr>
          <p:cNvSpPr txBox="1"/>
          <p:nvPr/>
        </p:nvSpPr>
        <p:spPr>
          <a:xfrm>
            <a:off x="6861617" y="2353539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「</a:t>
            </a:r>
            <a:r>
              <a:rPr lang="en-US" altLang="ja-JP" sz="1400"/>
              <a:t>todos</a:t>
            </a:r>
            <a:r>
              <a:rPr kumimoji="1" lang="ja-JP" altLang="en-US" sz="1400"/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52441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86B6512-F20D-0A26-4EC2-554FB65E0B35}"/>
              </a:ext>
            </a:extLst>
          </p:cNvPr>
          <p:cNvSpPr/>
          <p:nvPr/>
        </p:nvSpPr>
        <p:spPr>
          <a:xfrm>
            <a:off x="3614821" y="1257007"/>
            <a:ext cx="5664104" cy="141707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200">
                <a:solidFill>
                  <a:schemeClr val="tx1"/>
                </a:solidFill>
              </a:rPr>
              <a:t>cloud hub 2.0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8CBD599-AB4F-5BF0-D037-FB7ECED81471}"/>
              </a:ext>
            </a:extLst>
          </p:cNvPr>
          <p:cNvSpPr/>
          <p:nvPr/>
        </p:nvSpPr>
        <p:spPr>
          <a:xfrm>
            <a:off x="9453080" y="1491780"/>
            <a:ext cx="695890" cy="11711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>
                <a:solidFill>
                  <a:schemeClr val="tx1"/>
                </a:solidFill>
              </a:rPr>
              <a:t>DMZ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1894A23-8260-4546-5DFD-AE1DCE941FDC}"/>
              </a:ext>
            </a:extLst>
          </p:cNvPr>
          <p:cNvSpPr/>
          <p:nvPr/>
        </p:nvSpPr>
        <p:spPr>
          <a:xfrm>
            <a:off x="6309285" y="1577927"/>
            <a:ext cx="942535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>
                <a:solidFill>
                  <a:schemeClr val="tx1"/>
                </a:solidFill>
              </a:rPr>
              <a:t>E</a:t>
            </a:r>
            <a:r>
              <a:rPr lang="ja-JP" altLang="en-US" sz="1400">
                <a:solidFill>
                  <a:schemeClr val="tx1"/>
                </a:solidFill>
              </a:rPr>
              <a:t>層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728F9F9-B52B-69FD-9060-7AB257010F5C}"/>
              </a:ext>
            </a:extLst>
          </p:cNvPr>
          <p:cNvSpPr/>
          <p:nvPr/>
        </p:nvSpPr>
        <p:spPr>
          <a:xfrm>
            <a:off x="5124377" y="1577927"/>
            <a:ext cx="942535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>
                <a:solidFill>
                  <a:schemeClr val="tx1"/>
                </a:solidFill>
              </a:rPr>
              <a:t>P</a:t>
            </a:r>
            <a:r>
              <a:rPr kumimoji="1" lang="ja-JP" altLang="en-US" sz="1400">
                <a:solidFill>
                  <a:schemeClr val="tx1"/>
                </a:solidFill>
              </a:rPr>
              <a:t>層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93EE58D-1754-3030-BEA0-E06862EF54F1}"/>
              </a:ext>
            </a:extLst>
          </p:cNvPr>
          <p:cNvSpPr/>
          <p:nvPr/>
        </p:nvSpPr>
        <p:spPr>
          <a:xfrm>
            <a:off x="3814617" y="1577927"/>
            <a:ext cx="1067388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>
                <a:solidFill>
                  <a:schemeClr val="tx1"/>
                </a:solidFill>
              </a:rPr>
              <a:t>S</a:t>
            </a:r>
            <a:r>
              <a:rPr lang="ja-JP" altLang="en-US" sz="1400">
                <a:solidFill>
                  <a:schemeClr val="tx1"/>
                </a:solidFill>
              </a:rPr>
              <a:t>層</a:t>
            </a:r>
            <a:endParaRPr lang="en-US" altLang="ja-JP" sz="1400">
              <a:solidFill>
                <a:schemeClr val="tx1"/>
              </a:solidFill>
            </a:endParaRPr>
          </a:p>
          <a:p>
            <a:r>
              <a:rPr kumimoji="1" lang="ja-JP" altLang="en-US" sz="1000">
                <a:solidFill>
                  <a:schemeClr val="tx1"/>
                </a:solidFill>
              </a:rPr>
              <a:t>・勘定取引</a:t>
            </a:r>
            <a:r>
              <a:rPr kumimoji="1" lang="en-US" altLang="ja-JP" sz="1000">
                <a:solidFill>
                  <a:schemeClr val="tx1"/>
                </a:solidFill>
              </a:rPr>
              <a:t>API</a:t>
            </a:r>
          </a:p>
          <a:p>
            <a:r>
              <a:rPr lang="ja-JP" altLang="en-US" sz="1000">
                <a:solidFill>
                  <a:schemeClr val="tx1"/>
                </a:solidFill>
              </a:rPr>
              <a:t>・諸届</a:t>
            </a:r>
            <a:r>
              <a:rPr lang="en-US" altLang="ja-JP" sz="1000">
                <a:solidFill>
                  <a:schemeClr val="tx1"/>
                </a:solidFill>
              </a:rPr>
              <a:t>API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431734-7F69-375F-F02B-8F90BBD4C918}"/>
              </a:ext>
            </a:extLst>
          </p:cNvPr>
          <p:cNvSpPr/>
          <p:nvPr/>
        </p:nvSpPr>
        <p:spPr>
          <a:xfrm>
            <a:off x="7456788" y="1577927"/>
            <a:ext cx="1669367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>
                <a:solidFill>
                  <a:schemeClr val="tx1"/>
                </a:solidFill>
              </a:rPr>
              <a:t>(Managed)</a:t>
            </a:r>
          </a:p>
          <a:p>
            <a:r>
              <a:rPr lang="ja-JP" altLang="en-US" sz="1400">
                <a:solidFill>
                  <a:schemeClr val="tx1"/>
                </a:solidFill>
              </a:rPr>
              <a:t>外部用 </a:t>
            </a:r>
            <a:r>
              <a:rPr lang="en-US" altLang="ja-JP" sz="1400">
                <a:solidFill>
                  <a:schemeClr val="tx1"/>
                </a:solidFill>
              </a:rPr>
              <a:t>Omni Gateway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66F8A83-A4C7-6D85-E9AF-A2E7CAD20A8E}"/>
              </a:ext>
            </a:extLst>
          </p:cNvPr>
          <p:cNvSpPr/>
          <p:nvPr/>
        </p:nvSpPr>
        <p:spPr>
          <a:xfrm>
            <a:off x="1328205" y="1563858"/>
            <a:ext cx="834519" cy="22366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400">
                <a:solidFill>
                  <a:schemeClr val="tx1"/>
                </a:solidFill>
              </a:rPr>
              <a:t>コムハブ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276B1C2-7EA1-88BB-881F-4BB37B6D3528}"/>
              </a:ext>
            </a:extLst>
          </p:cNvPr>
          <p:cNvSpPr/>
          <p:nvPr/>
        </p:nvSpPr>
        <p:spPr>
          <a:xfrm>
            <a:off x="127094" y="1563859"/>
            <a:ext cx="819900" cy="22366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</a:rPr>
              <a:t>勘定系基幹システム</a:t>
            </a:r>
            <a:br>
              <a:rPr kumimoji="1" lang="en-US" altLang="ja-JP" sz="1400">
                <a:solidFill>
                  <a:schemeClr val="tx1"/>
                </a:solidFill>
              </a:rPr>
            </a:br>
            <a:r>
              <a:rPr kumimoji="1" lang="en-US" altLang="ja-JP" sz="1400">
                <a:solidFill>
                  <a:schemeClr val="tx1"/>
                </a:solidFill>
              </a:rPr>
              <a:t>(</a:t>
            </a:r>
            <a:r>
              <a:rPr kumimoji="1" lang="ja-JP" altLang="en-US" sz="1400">
                <a:solidFill>
                  <a:schemeClr val="tx1"/>
                </a:solidFill>
              </a:rPr>
              <a:t>レガシー</a:t>
            </a:r>
            <a:r>
              <a:rPr kumimoji="1" lang="en-US" altLang="ja-JP" sz="1400">
                <a:solidFill>
                  <a:schemeClr val="tx1"/>
                </a:solidFill>
              </a:rPr>
              <a:t>)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39B8881-1FBA-5109-D6D6-5B2630F845C4}"/>
              </a:ext>
            </a:extLst>
          </p:cNvPr>
          <p:cNvSpPr/>
          <p:nvPr/>
        </p:nvSpPr>
        <p:spPr>
          <a:xfrm>
            <a:off x="1328205" y="4061752"/>
            <a:ext cx="834519" cy="19261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>
                <a:solidFill>
                  <a:schemeClr val="tx1"/>
                </a:solidFill>
              </a:rPr>
              <a:t>チャネルサーバ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01D8E9E-140F-ACEA-6875-23345110CB90}"/>
              </a:ext>
            </a:extLst>
          </p:cNvPr>
          <p:cNvSpPr/>
          <p:nvPr/>
        </p:nvSpPr>
        <p:spPr>
          <a:xfrm>
            <a:off x="111895" y="4044167"/>
            <a:ext cx="835099" cy="1937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chemeClr val="tx1"/>
                </a:solidFill>
              </a:rPr>
              <a:t>その他</a:t>
            </a:r>
            <a:endParaRPr kumimoji="1" lang="en-US" altLang="ja-JP" sz="1400">
              <a:solidFill>
                <a:schemeClr val="tx1"/>
              </a:solidFill>
            </a:endParaRPr>
          </a:p>
          <a:p>
            <a:pPr algn="ctr"/>
            <a:r>
              <a:rPr lang="en-US" altLang="ja-JP" sz="1400">
                <a:solidFill>
                  <a:schemeClr val="tx1"/>
                </a:solidFill>
              </a:rPr>
              <a:t>(</a:t>
            </a:r>
            <a:r>
              <a:rPr kumimoji="1" lang="ja-JP" altLang="en-US" sz="1400">
                <a:solidFill>
                  <a:schemeClr val="tx1"/>
                </a:solidFill>
              </a:rPr>
              <a:t>オープン系</a:t>
            </a:r>
            <a:r>
              <a:rPr kumimoji="1" lang="en-US" altLang="ja-JP" sz="1400">
                <a:solidFill>
                  <a:schemeClr val="tx1"/>
                </a:solidFill>
              </a:rPr>
              <a:t>)</a:t>
            </a:r>
          </a:p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BA27550-1E68-23CA-D974-1170FA15102A}"/>
              </a:ext>
            </a:extLst>
          </p:cNvPr>
          <p:cNvSpPr/>
          <p:nvPr/>
        </p:nvSpPr>
        <p:spPr>
          <a:xfrm>
            <a:off x="2575291" y="1563858"/>
            <a:ext cx="695891" cy="44178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>
                <a:solidFill>
                  <a:schemeClr val="tx1"/>
                </a:solidFill>
              </a:rPr>
              <a:t>MQ</a:t>
            </a:r>
            <a:r>
              <a:rPr lang="ja-JP" altLang="en-US" sz="1400">
                <a:solidFill>
                  <a:schemeClr val="tx1"/>
                </a:solidFill>
              </a:rPr>
              <a:t>基盤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3A98CE6-EAE8-E458-FB5B-A67B50862243}"/>
              </a:ext>
            </a:extLst>
          </p:cNvPr>
          <p:cNvSpPr/>
          <p:nvPr/>
        </p:nvSpPr>
        <p:spPr>
          <a:xfrm>
            <a:off x="3632296" y="3694821"/>
            <a:ext cx="5492610" cy="22868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>
                <a:solidFill>
                  <a:schemeClr val="tx1"/>
                </a:solidFill>
              </a:rPr>
              <a:t>栃木サーバ</a:t>
            </a:r>
            <a:r>
              <a:rPr kumimoji="1" lang="en-US" altLang="ja-JP" sz="1100">
                <a:solidFill>
                  <a:schemeClr val="tx1"/>
                </a:solidFill>
              </a:rPr>
              <a:t>(</a:t>
            </a:r>
            <a:r>
              <a:rPr kumimoji="1" lang="ja-JP" altLang="en-US" sz="1100">
                <a:solidFill>
                  <a:schemeClr val="tx1"/>
                </a:solidFill>
              </a:rPr>
              <a:t>オンプレミス</a:t>
            </a:r>
            <a:r>
              <a:rPr kumimoji="1" lang="en-US" altLang="ja-JP" sz="1100">
                <a:solidFill>
                  <a:schemeClr val="tx1"/>
                </a:solidFill>
              </a:rPr>
              <a:t>)</a:t>
            </a:r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2D99BE1-D5CF-94BC-EC8A-8BA3FE63E11E}"/>
              </a:ext>
            </a:extLst>
          </p:cNvPr>
          <p:cNvSpPr/>
          <p:nvPr/>
        </p:nvSpPr>
        <p:spPr>
          <a:xfrm>
            <a:off x="6164375" y="4745502"/>
            <a:ext cx="942535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>
                <a:solidFill>
                  <a:schemeClr val="tx1"/>
                </a:solidFill>
              </a:rPr>
              <a:t>E</a:t>
            </a:r>
            <a:r>
              <a:rPr lang="ja-JP" altLang="en-US" sz="1400">
                <a:solidFill>
                  <a:schemeClr val="tx1"/>
                </a:solidFill>
              </a:rPr>
              <a:t>層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5B61597-EB7E-EFE8-1307-1260B23B0DAB}"/>
              </a:ext>
            </a:extLst>
          </p:cNvPr>
          <p:cNvSpPr/>
          <p:nvPr/>
        </p:nvSpPr>
        <p:spPr>
          <a:xfrm>
            <a:off x="5293618" y="4745500"/>
            <a:ext cx="639602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>
                <a:solidFill>
                  <a:schemeClr val="tx1"/>
                </a:solidFill>
              </a:rPr>
              <a:t>P</a:t>
            </a:r>
            <a:r>
              <a:rPr kumimoji="1" lang="ja-JP" altLang="en-US" sz="1400">
                <a:solidFill>
                  <a:schemeClr val="tx1"/>
                </a:solidFill>
              </a:rPr>
              <a:t>層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D7629B3-D158-66B9-AA45-9921A7BDBE04}"/>
              </a:ext>
            </a:extLst>
          </p:cNvPr>
          <p:cNvSpPr/>
          <p:nvPr/>
        </p:nvSpPr>
        <p:spPr>
          <a:xfrm>
            <a:off x="3875297" y="4745502"/>
            <a:ext cx="1221880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>
                <a:solidFill>
                  <a:schemeClr val="tx1"/>
                </a:solidFill>
              </a:rPr>
              <a:t>S</a:t>
            </a:r>
            <a:r>
              <a:rPr lang="ja-JP" altLang="en-US" sz="1400">
                <a:solidFill>
                  <a:schemeClr val="tx1"/>
                </a:solidFill>
              </a:rPr>
              <a:t>層</a:t>
            </a:r>
            <a:endParaRPr lang="en-US" altLang="ja-JP" sz="1400">
              <a:solidFill>
                <a:schemeClr val="tx1"/>
              </a:solidFill>
            </a:endParaRPr>
          </a:p>
          <a:p>
            <a:r>
              <a:rPr lang="ja-JP" altLang="en-US" sz="1050">
                <a:solidFill>
                  <a:schemeClr val="tx1"/>
                </a:solidFill>
              </a:rPr>
              <a:t>・勘定取引</a:t>
            </a:r>
            <a:r>
              <a:rPr lang="en-US" altLang="ja-JP" sz="1050">
                <a:solidFill>
                  <a:schemeClr val="tx1"/>
                </a:solidFill>
              </a:rPr>
              <a:t>API</a:t>
            </a:r>
          </a:p>
          <a:p>
            <a:r>
              <a:rPr lang="ja-JP" altLang="en-US" sz="1050">
                <a:solidFill>
                  <a:schemeClr val="tx1"/>
                </a:solidFill>
              </a:rPr>
              <a:t>・諸届</a:t>
            </a:r>
            <a:r>
              <a:rPr lang="en-US" altLang="ja-JP" sz="1050">
                <a:solidFill>
                  <a:schemeClr val="tx1"/>
                </a:solidFill>
              </a:rPr>
              <a:t>API</a:t>
            </a:r>
            <a:endParaRPr lang="ja-JP" altLang="en-US" sz="1050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3CA79B2-09FC-6A85-4EC4-E8F8604655D2}"/>
              </a:ext>
            </a:extLst>
          </p:cNvPr>
          <p:cNvSpPr/>
          <p:nvPr/>
        </p:nvSpPr>
        <p:spPr>
          <a:xfrm>
            <a:off x="7708367" y="4276724"/>
            <a:ext cx="1067969" cy="1525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>
                <a:solidFill>
                  <a:schemeClr val="tx1"/>
                </a:solidFill>
              </a:rPr>
              <a:t>内部用 </a:t>
            </a:r>
            <a:r>
              <a:rPr lang="en-US" altLang="ja-JP" sz="1400">
                <a:solidFill>
                  <a:schemeClr val="tx1"/>
                </a:solidFill>
              </a:rPr>
              <a:t>Omni Gateway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A884D82D-EC85-B873-B4BC-881BDF6B7A24}"/>
              </a:ext>
            </a:extLst>
          </p:cNvPr>
          <p:cNvSpPr/>
          <p:nvPr/>
        </p:nvSpPr>
        <p:spPr>
          <a:xfrm>
            <a:off x="3708307" y="4276724"/>
            <a:ext cx="3590573" cy="15716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>
                <a:solidFill>
                  <a:schemeClr val="tx1"/>
                </a:solidFill>
              </a:rPr>
              <a:t>Mule Runtime Engine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F06E5EE-4090-2B69-66DA-990D0053CC18}"/>
              </a:ext>
            </a:extLst>
          </p:cNvPr>
          <p:cNvSpPr/>
          <p:nvPr/>
        </p:nvSpPr>
        <p:spPr>
          <a:xfrm>
            <a:off x="10360618" y="1577927"/>
            <a:ext cx="1476775" cy="14357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200">
                <a:solidFill>
                  <a:schemeClr val="tx1"/>
                </a:solidFill>
              </a:rPr>
              <a:t>社外クライアント</a:t>
            </a:r>
            <a:r>
              <a:rPr kumimoji="1" lang="en-US" altLang="ja-JP" sz="1200">
                <a:solidFill>
                  <a:schemeClr val="tx1"/>
                </a:solidFill>
              </a:rPr>
              <a:t>(</a:t>
            </a:r>
            <a:r>
              <a:rPr kumimoji="1" lang="ja-JP" altLang="en-US" sz="1200">
                <a:solidFill>
                  <a:schemeClr val="tx1"/>
                </a:solidFill>
              </a:rPr>
              <a:t>インターネットバンキング・</a:t>
            </a:r>
            <a:r>
              <a:rPr kumimoji="1" lang="en-US" altLang="ja-JP" sz="1200">
                <a:solidFill>
                  <a:schemeClr val="tx1"/>
                </a:solidFill>
              </a:rPr>
              <a:t>Fintech</a:t>
            </a:r>
            <a:r>
              <a:rPr kumimoji="1" lang="ja-JP" altLang="en-US" sz="1200">
                <a:solidFill>
                  <a:schemeClr val="tx1"/>
                </a:solidFill>
              </a:rPr>
              <a:t>外部アプリ</a:t>
            </a:r>
            <a:r>
              <a:rPr kumimoji="1" lang="en-US" altLang="ja-JP" sz="1200">
                <a:solidFill>
                  <a:schemeClr val="tx1"/>
                </a:solidFill>
              </a:rPr>
              <a:t>)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A062199-57D3-6842-C7AF-23F0DC5FEF73}"/>
              </a:ext>
            </a:extLst>
          </p:cNvPr>
          <p:cNvSpPr/>
          <p:nvPr/>
        </p:nvSpPr>
        <p:spPr>
          <a:xfrm>
            <a:off x="10360617" y="4539870"/>
            <a:ext cx="1476775" cy="9988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200">
                <a:solidFill>
                  <a:schemeClr val="tx1"/>
                </a:solidFill>
              </a:rPr>
              <a:t>社内クライアント</a:t>
            </a:r>
            <a:endParaRPr lang="en-US" altLang="ja-JP" sz="1200">
              <a:solidFill>
                <a:schemeClr val="tx1"/>
              </a:solidFill>
            </a:endParaRPr>
          </a:p>
          <a:p>
            <a:r>
              <a:rPr lang="en-US" altLang="ja-JP" sz="1200">
                <a:solidFill>
                  <a:schemeClr val="tx1"/>
                </a:solidFill>
              </a:rPr>
              <a:t>(</a:t>
            </a:r>
            <a:r>
              <a:rPr lang="ja-JP" altLang="en-US" sz="1200">
                <a:solidFill>
                  <a:schemeClr val="tx1"/>
                </a:solidFill>
              </a:rPr>
              <a:t>タブレットなど</a:t>
            </a:r>
            <a:r>
              <a:rPr lang="en-US" altLang="ja-JP" sz="120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E006B99-F7BB-F1A9-9B8F-50D91BE7F740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flipH="1">
            <a:off x="7251820" y="2077330"/>
            <a:ext cx="2049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66559F3C-8654-3FB0-ACED-B5F49D86CA65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>
            <a:off x="9126155" y="2077330"/>
            <a:ext cx="3269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C89D888F-211D-1D98-57CE-87EDEB2332A3}"/>
              </a:ext>
            </a:extLst>
          </p:cNvPr>
          <p:cNvCxnSpPr>
            <a:cxnSpLocks/>
            <a:stCxn id="30" idx="1"/>
            <a:endCxn id="22" idx="3"/>
          </p:cNvCxnSpPr>
          <p:nvPr/>
        </p:nvCxnSpPr>
        <p:spPr>
          <a:xfrm flipH="1">
            <a:off x="8776336" y="5039273"/>
            <a:ext cx="15842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B06B891-AD0B-AF7A-901D-44AF7404153C}"/>
              </a:ext>
            </a:extLst>
          </p:cNvPr>
          <p:cNvCxnSpPr/>
          <p:nvPr/>
        </p:nvCxnSpPr>
        <p:spPr>
          <a:xfrm flipH="1" flipV="1">
            <a:off x="3313681" y="5232005"/>
            <a:ext cx="213046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EF3F5EB-18CA-84EC-27FF-E05DA0EB0F9C}"/>
              </a:ext>
            </a:extLst>
          </p:cNvPr>
          <p:cNvCxnSpPr>
            <a:cxnSpLocks/>
          </p:cNvCxnSpPr>
          <p:nvPr/>
        </p:nvCxnSpPr>
        <p:spPr>
          <a:xfrm flipH="1">
            <a:off x="3271182" y="2269292"/>
            <a:ext cx="3317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E6EF4899-21AA-0515-70FA-B5FED2F8830C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7106910" y="5244905"/>
            <a:ext cx="6014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C399F43A-4BFD-4AB7-EE8C-CD390CA6C50A}"/>
              </a:ext>
            </a:extLst>
          </p:cNvPr>
          <p:cNvCxnSpPr>
            <a:cxnSpLocks/>
          </p:cNvCxnSpPr>
          <p:nvPr/>
        </p:nvCxnSpPr>
        <p:spPr>
          <a:xfrm flipH="1">
            <a:off x="2221334" y="2269291"/>
            <a:ext cx="3025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B6DF6EF9-E576-9DAB-E361-DDFE2D798D55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2162724" y="2682166"/>
            <a:ext cx="412567" cy="2702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B36248CF-3624-CCAD-C27B-DF377C5F46EC}"/>
              </a:ext>
            </a:extLst>
          </p:cNvPr>
          <p:cNvCxnSpPr>
            <a:cxnSpLocks/>
          </p:cNvCxnSpPr>
          <p:nvPr/>
        </p:nvCxnSpPr>
        <p:spPr>
          <a:xfrm flipH="1">
            <a:off x="946994" y="2269291"/>
            <a:ext cx="3812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905E53B6-6100-DD29-38DC-F8E91B3E7290}"/>
              </a:ext>
            </a:extLst>
          </p:cNvPr>
          <p:cNvCxnSpPr>
            <a:cxnSpLocks/>
          </p:cNvCxnSpPr>
          <p:nvPr/>
        </p:nvCxnSpPr>
        <p:spPr>
          <a:xfrm flipH="1">
            <a:off x="946994" y="4824333"/>
            <a:ext cx="3812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5D9EFEC6-6B4A-3A70-D0B6-F83EE4991B83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6066912" y="2077330"/>
            <a:ext cx="2423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C8FF0C12-E7BA-5996-2B4D-F4A4D20DABBD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4882005" y="2077330"/>
            <a:ext cx="2423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BE4F3E82-741A-098C-69E2-39E07C6E7E7A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2162724" y="2269291"/>
            <a:ext cx="412567" cy="27555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8C604638-91CC-380A-9722-83594B79B733}"/>
              </a:ext>
            </a:extLst>
          </p:cNvPr>
          <p:cNvCxnSpPr>
            <a:cxnSpLocks/>
          </p:cNvCxnSpPr>
          <p:nvPr/>
        </p:nvCxnSpPr>
        <p:spPr>
          <a:xfrm flipH="1">
            <a:off x="2188789" y="5504295"/>
            <a:ext cx="3865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4F0BF339-9618-3C6D-8E9B-61FD4F31B206}"/>
              </a:ext>
            </a:extLst>
          </p:cNvPr>
          <p:cNvCxnSpPr>
            <a:cxnSpLocks/>
          </p:cNvCxnSpPr>
          <p:nvPr/>
        </p:nvCxnSpPr>
        <p:spPr>
          <a:xfrm flipH="1">
            <a:off x="10148970" y="2269291"/>
            <a:ext cx="2144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298B6A57-59E6-583C-1C00-69E52314C049}"/>
              </a:ext>
            </a:extLst>
          </p:cNvPr>
          <p:cNvSpPr/>
          <p:nvPr/>
        </p:nvSpPr>
        <p:spPr>
          <a:xfrm>
            <a:off x="3531068" y="691225"/>
            <a:ext cx="5822482" cy="29070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>
                <a:solidFill>
                  <a:schemeClr val="tx1"/>
                </a:solidFill>
              </a:rPr>
              <a:t>Mulesoft</a:t>
            </a:r>
            <a:r>
              <a:rPr lang="ja-JP" altLang="en-US" sz="1400">
                <a:solidFill>
                  <a:schemeClr val="tx1"/>
                </a:solidFill>
              </a:rPr>
              <a:t>管理クラウド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E55107E1-FC34-1267-6EAE-146AB8142AA1}"/>
              </a:ext>
            </a:extLst>
          </p:cNvPr>
          <p:cNvSpPr/>
          <p:nvPr/>
        </p:nvSpPr>
        <p:spPr>
          <a:xfrm>
            <a:off x="3791021" y="2734958"/>
            <a:ext cx="5333885" cy="766099"/>
          </a:xfrm>
          <a:prstGeom prst="round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000">
                <a:solidFill>
                  <a:schemeClr val="bg1">
                    <a:lumMod val="50000"/>
                  </a:schemeClr>
                </a:solidFill>
              </a:rPr>
              <a:t>Control Plane</a:t>
            </a:r>
            <a:endParaRPr kumimoji="1" lang="ja-JP" altLang="en-US" sz="10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4373E286-9410-AA3B-4158-77693BC43933}"/>
              </a:ext>
            </a:extLst>
          </p:cNvPr>
          <p:cNvSpPr/>
          <p:nvPr/>
        </p:nvSpPr>
        <p:spPr>
          <a:xfrm>
            <a:off x="6066912" y="3057403"/>
            <a:ext cx="966278" cy="382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Anypoint Monitoring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38AA8BC-C5A4-88E1-53AD-BAF35F0BDCC2}"/>
              </a:ext>
            </a:extLst>
          </p:cNvPr>
          <p:cNvSpPr/>
          <p:nvPr/>
        </p:nvSpPr>
        <p:spPr>
          <a:xfrm>
            <a:off x="3939816" y="3060205"/>
            <a:ext cx="839255" cy="382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Runtime Manager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951B0DB4-7456-EF1D-74E4-A11B474642B1}"/>
              </a:ext>
            </a:extLst>
          </p:cNvPr>
          <p:cNvSpPr/>
          <p:nvPr/>
        </p:nvSpPr>
        <p:spPr>
          <a:xfrm>
            <a:off x="4992478" y="3060206"/>
            <a:ext cx="839255" cy="382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API Manager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723D1447-E7B9-CF0E-72C5-65D94E68D970}"/>
              </a:ext>
            </a:extLst>
          </p:cNvPr>
          <p:cNvSpPr/>
          <p:nvPr/>
        </p:nvSpPr>
        <p:spPr>
          <a:xfrm>
            <a:off x="7200077" y="3057403"/>
            <a:ext cx="966278" cy="382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Design Center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03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2D2137-76DA-2A58-A6B6-CD1F6F13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2800"/>
              <a:t>Mulesoft</a:t>
            </a:r>
            <a:r>
              <a:rPr kumimoji="1" lang="ja-JP" altLang="en-US" sz="2800"/>
              <a:t>における</a:t>
            </a:r>
            <a:r>
              <a:rPr kumimoji="1" lang="en-US" altLang="ja-JP" sz="2800"/>
              <a:t>API Gateway / API Manager</a:t>
            </a:r>
            <a:r>
              <a:rPr kumimoji="1" lang="ja-JP" altLang="en-US" sz="2800"/>
              <a:t>の役割分担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BC2B328-F699-F9E4-E3E7-83F475C93B4A}"/>
              </a:ext>
            </a:extLst>
          </p:cNvPr>
          <p:cNvSpPr/>
          <p:nvPr/>
        </p:nvSpPr>
        <p:spPr>
          <a:xfrm>
            <a:off x="2028825" y="2168735"/>
            <a:ext cx="3019425" cy="736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/>
              <a:t>API Manager</a:t>
            </a:r>
            <a:endParaRPr kumimoji="1" lang="ja-JP" altLang="en-US" sz="14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DC10D04-B8EC-7BA3-1069-0D59AEF37107}"/>
              </a:ext>
            </a:extLst>
          </p:cNvPr>
          <p:cNvSpPr/>
          <p:nvPr/>
        </p:nvSpPr>
        <p:spPr>
          <a:xfrm>
            <a:off x="2028824" y="4920830"/>
            <a:ext cx="4962526" cy="1175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/>
              <a:t>Omni</a:t>
            </a:r>
            <a:r>
              <a:rPr kumimoji="1" lang="en-US" altLang="ja-JP" sz="1400"/>
              <a:t> Gateway</a:t>
            </a:r>
            <a:endParaRPr kumimoji="1" lang="ja-JP" altLang="en-US" sz="140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68FDE99-19F8-CA43-1FD1-9B6625F0F98D}"/>
              </a:ext>
            </a:extLst>
          </p:cNvPr>
          <p:cNvSpPr/>
          <p:nvPr/>
        </p:nvSpPr>
        <p:spPr>
          <a:xfrm>
            <a:off x="1495425" y="1466850"/>
            <a:ext cx="7362825" cy="1819275"/>
          </a:xfrm>
          <a:prstGeom prst="roundRect">
            <a:avLst/>
          </a:prstGeom>
          <a:noFill/>
          <a:ln w="127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b="1">
                <a:solidFill>
                  <a:schemeClr val="tx1"/>
                </a:solidFill>
              </a:rPr>
              <a:t>Control Plane</a:t>
            </a:r>
            <a:endParaRPr kumimoji="1" lang="ja-JP" altLang="en-US" b="1">
              <a:solidFill>
                <a:schemeClr val="tx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A689261-563B-858D-C0A4-10CD97C547FF}"/>
              </a:ext>
            </a:extLst>
          </p:cNvPr>
          <p:cNvSpPr/>
          <p:nvPr/>
        </p:nvSpPr>
        <p:spPr>
          <a:xfrm>
            <a:off x="1495425" y="4105276"/>
            <a:ext cx="6076950" cy="2190749"/>
          </a:xfrm>
          <a:prstGeom prst="roundRect">
            <a:avLst/>
          </a:prstGeom>
          <a:noFill/>
          <a:ln w="127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b="1">
                <a:solidFill>
                  <a:schemeClr val="tx1"/>
                </a:solidFill>
              </a:rPr>
              <a:t>Data Plane</a:t>
            </a:r>
            <a:endParaRPr kumimoji="1" lang="ja-JP" altLang="en-US" b="1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9F7C00-D455-CAF4-8CB9-02D258A0296D}"/>
              </a:ext>
            </a:extLst>
          </p:cNvPr>
          <p:cNvSpPr/>
          <p:nvPr/>
        </p:nvSpPr>
        <p:spPr>
          <a:xfrm>
            <a:off x="5178147" y="5202872"/>
            <a:ext cx="1724026" cy="721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>
                <a:solidFill>
                  <a:schemeClr val="tx1"/>
                </a:solidFill>
              </a:rPr>
              <a:t>Gateway Policy </a:t>
            </a:r>
            <a:r>
              <a:rPr kumimoji="1" lang="ja-JP" altLang="en-US" sz="1100">
                <a:solidFill>
                  <a:schemeClr val="tx1"/>
                </a:solidFill>
              </a:rPr>
              <a:t>の実行</a:t>
            </a:r>
            <a:endParaRPr kumimoji="1" lang="en-US" altLang="ja-JP" sz="11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>
                <a:solidFill>
                  <a:schemeClr val="tx1"/>
                </a:solidFill>
              </a:rPr>
              <a:t>Rate Limiting</a:t>
            </a:r>
            <a:endParaRPr kumimoji="1" lang="ja-JP" altLang="en-US" sz="1100">
              <a:solidFill>
                <a:schemeClr val="tx1"/>
              </a:solidFill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CFC9C05-4813-1E72-40D0-F077FC4B732A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>
            <a:off x="3852863" y="2796544"/>
            <a:ext cx="2187297" cy="2406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1902D1D-322B-0040-4C4F-FD9759F8DF8D}"/>
              </a:ext>
            </a:extLst>
          </p:cNvPr>
          <p:cNvSpPr txBox="1"/>
          <p:nvPr/>
        </p:nvSpPr>
        <p:spPr>
          <a:xfrm>
            <a:off x="3762375" y="3672942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設定・適用・管理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652506B-11E7-CA41-E8D0-7D8AEC606FFB}"/>
              </a:ext>
            </a:extLst>
          </p:cNvPr>
          <p:cNvSpPr/>
          <p:nvPr/>
        </p:nvSpPr>
        <p:spPr>
          <a:xfrm>
            <a:off x="2990850" y="2512706"/>
            <a:ext cx="1724026" cy="283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>
                <a:solidFill>
                  <a:schemeClr val="tx1"/>
                </a:solidFill>
              </a:rPr>
              <a:t>Gateway Policy </a:t>
            </a:r>
            <a:r>
              <a:rPr kumimoji="1" lang="ja-JP" altLang="en-US" sz="1100">
                <a:solidFill>
                  <a:schemeClr val="tx1"/>
                </a:solidFill>
              </a:rPr>
              <a:t>の設定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D698E8E-F1E6-D4CC-8403-D60F6E640380}"/>
              </a:ext>
            </a:extLst>
          </p:cNvPr>
          <p:cNvSpPr/>
          <p:nvPr/>
        </p:nvSpPr>
        <p:spPr>
          <a:xfrm>
            <a:off x="2128838" y="2512706"/>
            <a:ext cx="690563" cy="283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>
                <a:solidFill>
                  <a:schemeClr val="tx1"/>
                </a:solidFill>
              </a:rPr>
              <a:t>API</a:t>
            </a:r>
            <a:r>
              <a:rPr kumimoji="1" lang="ja-JP" altLang="en-US" sz="1100">
                <a:solidFill>
                  <a:schemeClr val="tx1"/>
                </a:solidFill>
              </a:rPr>
              <a:t>管理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2437978-9FE3-1B2C-BCBB-223990EDB604}"/>
              </a:ext>
            </a:extLst>
          </p:cNvPr>
          <p:cNvSpPr/>
          <p:nvPr/>
        </p:nvSpPr>
        <p:spPr>
          <a:xfrm>
            <a:off x="5296555" y="2168735"/>
            <a:ext cx="3019425" cy="736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/>
              <a:t>Runtime</a:t>
            </a:r>
            <a:r>
              <a:rPr kumimoji="1" lang="en-US" altLang="ja-JP" sz="1400"/>
              <a:t> Manager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1533346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BDE3B0-B5A6-1596-02DE-50AF36A7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2400"/>
              <a:t>Mulesoft</a:t>
            </a:r>
            <a:r>
              <a:rPr kumimoji="1" lang="ja-JP" altLang="en-US" sz="2400"/>
              <a:t>チュートリアル「レート制限ポリシーを使ってみよう」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2EA054-BE07-C5AE-193B-32CD29D27145}"/>
              </a:ext>
            </a:extLst>
          </p:cNvPr>
          <p:cNvSpPr/>
          <p:nvPr/>
        </p:nvSpPr>
        <p:spPr>
          <a:xfrm>
            <a:off x="1949554" y="769738"/>
            <a:ext cx="7038975" cy="12305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664D41-F7E3-2E40-2E2F-2651949DE6AE}"/>
              </a:ext>
            </a:extLst>
          </p:cNvPr>
          <p:cNvSpPr txBox="1"/>
          <p:nvPr/>
        </p:nvSpPr>
        <p:spPr>
          <a:xfrm>
            <a:off x="1933574" y="781049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/>
              <a:t>Control Plane</a:t>
            </a:r>
            <a:endParaRPr kumimoji="1" lang="ja-JP" altLang="en-US" sz="14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6718A3C-FEAF-177F-CFC0-AE6C79F4917E}"/>
              </a:ext>
            </a:extLst>
          </p:cNvPr>
          <p:cNvSpPr/>
          <p:nvPr/>
        </p:nvSpPr>
        <p:spPr>
          <a:xfrm>
            <a:off x="3494065" y="1145605"/>
            <a:ext cx="2147463" cy="759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</a:rPr>
              <a:t>API Manager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9F6FF8-1E15-B459-4A5B-09CAFF7F913C}"/>
              </a:ext>
            </a:extLst>
          </p:cNvPr>
          <p:cNvSpPr/>
          <p:nvPr/>
        </p:nvSpPr>
        <p:spPr>
          <a:xfrm>
            <a:off x="6484989" y="1468254"/>
            <a:ext cx="1419225" cy="3429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tx1"/>
                </a:solidFill>
              </a:rPr>
              <a:t>Runtime</a:t>
            </a:r>
            <a:r>
              <a:rPr kumimoji="1" lang="en-US" altLang="ja-JP" sz="1050">
                <a:solidFill>
                  <a:schemeClr val="tx1"/>
                </a:solidFill>
              </a:rPr>
              <a:t> Manager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0D63ACD-DD4A-AFB6-7D37-00DE6D18856A}"/>
              </a:ext>
            </a:extLst>
          </p:cNvPr>
          <p:cNvSpPr/>
          <p:nvPr/>
        </p:nvSpPr>
        <p:spPr>
          <a:xfrm>
            <a:off x="1965534" y="2388977"/>
            <a:ext cx="8706779" cy="433249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0DEFCD8-126F-C841-DA8D-8935FA55D179}"/>
              </a:ext>
            </a:extLst>
          </p:cNvPr>
          <p:cNvSpPr txBox="1"/>
          <p:nvPr/>
        </p:nvSpPr>
        <p:spPr>
          <a:xfrm>
            <a:off x="2244829" y="2490885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1400"/>
              <a:t>Runtime</a:t>
            </a:r>
            <a:r>
              <a:rPr kumimoji="1" lang="en-US" altLang="ja-JP" sz="1400"/>
              <a:t> Plane</a:t>
            </a:r>
            <a:endParaRPr kumimoji="1" lang="ja-JP" altLang="en-US" sz="140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B5AE56E-6E0C-BB60-5321-D6CAEEB1EAAE}"/>
              </a:ext>
            </a:extLst>
          </p:cNvPr>
          <p:cNvSpPr/>
          <p:nvPr/>
        </p:nvSpPr>
        <p:spPr>
          <a:xfrm>
            <a:off x="2724149" y="2805957"/>
            <a:ext cx="7324725" cy="30423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594C5F5-28F4-F431-1FEE-21C0AEB0D4B5}"/>
              </a:ext>
            </a:extLst>
          </p:cNvPr>
          <p:cNvSpPr txBox="1"/>
          <p:nvPr/>
        </p:nvSpPr>
        <p:spPr>
          <a:xfrm>
            <a:off x="5512445" y="2831252"/>
            <a:ext cx="2601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/>
              <a:t>コンテナ基盤</a:t>
            </a:r>
            <a:r>
              <a:rPr lang="en-US" altLang="ja-JP" sz="1600"/>
              <a:t>(Kubernetes)</a:t>
            </a:r>
            <a:endParaRPr kumimoji="1" lang="ja-JP" altLang="en-US" sz="160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A2E5929-5AB9-A571-2BBC-344A398318AB}"/>
              </a:ext>
            </a:extLst>
          </p:cNvPr>
          <p:cNvSpPr/>
          <p:nvPr/>
        </p:nvSpPr>
        <p:spPr>
          <a:xfrm>
            <a:off x="6554037" y="3248155"/>
            <a:ext cx="2476500" cy="220291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845B8FF-8E36-AD99-D13C-080E5EB37789}"/>
              </a:ext>
            </a:extLst>
          </p:cNvPr>
          <p:cNvSpPr txBox="1"/>
          <p:nvPr/>
        </p:nvSpPr>
        <p:spPr>
          <a:xfrm>
            <a:off x="6689250" y="3325980"/>
            <a:ext cx="7745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100"/>
              <a:t>Replica</a:t>
            </a:r>
            <a:r>
              <a:rPr kumimoji="1" lang="ja-JP" altLang="en-US" sz="1100"/>
              <a:t> </a:t>
            </a:r>
            <a:r>
              <a:rPr lang="en-US" altLang="ja-JP" sz="1100"/>
              <a:t>2</a:t>
            </a:r>
            <a:endParaRPr kumimoji="1" lang="ja-JP" altLang="en-US" sz="110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76D5740-ED5B-0D17-5717-3544470472DC}"/>
              </a:ext>
            </a:extLst>
          </p:cNvPr>
          <p:cNvCxnSpPr>
            <a:cxnSpLocks/>
          </p:cNvCxnSpPr>
          <p:nvPr/>
        </p:nvCxnSpPr>
        <p:spPr>
          <a:xfrm>
            <a:off x="9962594" y="791983"/>
            <a:ext cx="881169" cy="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9A9FBC89-D6F9-1830-409E-48EE722B972F}"/>
              </a:ext>
            </a:extLst>
          </p:cNvPr>
          <p:cNvCxnSpPr>
            <a:cxnSpLocks/>
          </p:cNvCxnSpPr>
          <p:nvPr/>
        </p:nvCxnSpPr>
        <p:spPr>
          <a:xfrm flipH="1">
            <a:off x="4073460" y="4348882"/>
            <a:ext cx="6693" cy="349281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6A3BD4F-8C31-6273-617D-11CF4A08DE4A}"/>
              </a:ext>
            </a:extLst>
          </p:cNvPr>
          <p:cNvSpPr txBox="1"/>
          <p:nvPr/>
        </p:nvSpPr>
        <p:spPr>
          <a:xfrm>
            <a:off x="10952820" y="625394"/>
            <a:ext cx="11721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100"/>
              <a:t>管理・設定・</a:t>
            </a:r>
            <a:endParaRPr kumimoji="1" lang="en-US" altLang="ja-JP" sz="1100"/>
          </a:p>
          <a:p>
            <a:pPr algn="l"/>
            <a:r>
              <a:rPr kumimoji="1" lang="ja-JP" altLang="en-US" sz="1100"/>
              <a:t>メトリクス監視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61438C81-88ED-7DFB-CDA7-08960E8C62A6}"/>
              </a:ext>
            </a:extLst>
          </p:cNvPr>
          <p:cNvCxnSpPr>
            <a:cxnSpLocks/>
          </p:cNvCxnSpPr>
          <p:nvPr/>
        </p:nvCxnSpPr>
        <p:spPr>
          <a:xfrm>
            <a:off x="9962594" y="469153"/>
            <a:ext cx="881169" cy="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ABD74D3-0D2D-FE0E-5746-0040E5296B89}"/>
              </a:ext>
            </a:extLst>
          </p:cNvPr>
          <p:cNvSpPr txBox="1"/>
          <p:nvPr/>
        </p:nvSpPr>
        <p:spPr>
          <a:xfrm>
            <a:off x="10952820" y="338348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100"/>
              <a:t>HTTP</a:t>
            </a:r>
            <a:r>
              <a:rPr kumimoji="1" lang="ja-JP" altLang="en-US" sz="1100"/>
              <a:t>通信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3545CFF2-D03F-535A-8CE6-00C68B719731}"/>
              </a:ext>
            </a:extLst>
          </p:cNvPr>
          <p:cNvSpPr/>
          <p:nvPr/>
        </p:nvSpPr>
        <p:spPr>
          <a:xfrm>
            <a:off x="2891789" y="3225695"/>
            <a:ext cx="3196217" cy="248670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034CBD0-8CA5-7231-D2D0-637470046D5D}"/>
              </a:ext>
            </a:extLst>
          </p:cNvPr>
          <p:cNvSpPr txBox="1"/>
          <p:nvPr/>
        </p:nvSpPr>
        <p:spPr>
          <a:xfrm>
            <a:off x="3588606" y="3259917"/>
            <a:ext cx="7745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100"/>
              <a:t>Replica</a:t>
            </a:r>
            <a:r>
              <a:rPr kumimoji="1" lang="ja-JP" altLang="en-US" sz="1100"/>
              <a:t> </a:t>
            </a:r>
            <a:r>
              <a:rPr kumimoji="1" lang="en-US" altLang="ja-JP" sz="1100"/>
              <a:t>1</a:t>
            </a:r>
            <a:endParaRPr kumimoji="1" lang="ja-JP" altLang="en-US" sz="11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C2789D1-4486-0A19-94B8-86CA21104DE3}"/>
              </a:ext>
            </a:extLst>
          </p:cNvPr>
          <p:cNvSpPr/>
          <p:nvPr/>
        </p:nvSpPr>
        <p:spPr>
          <a:xfrm>
            <a:off x="3150454" y="3668638"/>
            <a:ext cx="2751391" cy="176901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40177B1-C1FB-CC12-30DE-0A8DBEA8CBB7}"/>
              </a:ext>
            </a:extLst>
          </p:cNvPr>
          <p:cNvSpPr txBox="1"/>
          <p:nvPr/>
        </p:nvSpPr>
        <p:spPr>
          <a:xfrm>
            <a:off x="3345051" y="3666963"/>
            <a:ext cx="11721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100"/>
              <a:t>Mule Runtime</a:t>
            </a:r>
            <a:r>
              <a:rPr kumimoji="1" lang="ja-JP" altLang="en-US" sz="1100"/>
              <a:t> </a:t>
            </a:r>
            <a:r>
              <a:rPr kumimoji="1" lang="en-US" altLang="ja-JP" sz="1100"/>
              <a:t>1</a:t>
            </a:r>
            <a:endParaRPr kumimoji="1" lang="ja-JP" altLang="en-US" sz="110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9FD449A-D470-04B7-B4DB-E2E59468C02D}"/>
              </a:ext>
            </a:extLst>
          </p:cNvPr>
          <p:cNvSpPr/>
          <p:nvPr/>
        </p:nvSpPr>
        <p:spPr>
          <a:xfrm>
            <a:off x="3441941" y="4008365"/>
            <a:ext cx="1701639" cy="481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</a:rPr>
              <a:t>Mule Gateway</a:t>
            </a:r>
          </a:p>
          <a:p>
            <a:pPr algn="ctr"/>
            <a:r>
              <a:rPr lang="en-US" altLang="ja-JP" sz="1050">
                <a:solidFill>
                  <a:schemeClr val="tx1"/>
                </a:solidFill>
              </a:rPr>
              <a:t>(</a:t>
            </a:r>
            <a:r>
              <a:rPr lang="ja-JP" altLang="en-US" sz="1050">
                <a:solidFill>
                  <a:schemeClr val="tx1"/>
                </a:solidFill>
              </a:rPr>
              <a:t>埋め込み</a:t>
            </a:r>
            <a:r>
              <a:rPr lang="en-US" altLang="ja-JP" sz="1050">
                <a:solidFill>
                  <a:schemeClr val="tx1"/>
                </a:solidFill>
              </a:rPr>
              <a:t>API Gateway)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A01F36B-6E0F-44DA-D897-B5F52F034C6E}"/>
              </a:ext>
            </a:extLst>
          </p:cNvPr>
          <p:cNvSpPr/>
          <p:nvPr/>
        </p:nvSpPr>
        <p:spPr>
          <a:xfrm>
            <a:off x="3441941" y="4878837"/>
            <a:ext cx="2340095" cy="3887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プロキシアプリ</a:t>
            </a:r>
            <a:endParaRPr kumimoji="1" lang="en-US" altLang="ja-JP" sz="1050">
              <a:solidFill>
                <a:schemeClr val="tx1"/>
              </a:solidFill>
            </a:endParaRPr>
          </a:p>
          <a:p>
            <a:pPr algn="ctr"/>
            <a:r>
              <a:rPr lang="en-US" altLang="ja-JP" sz="1050">
                <a:solidFill>
                  <a:schemeClr val="tx1"/>
                </a:solidFill>
              </a:rPr>
              <a:t>(proxy-lab-gateway)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247C9D26-6C0D-5800-8CAF-48273459C23A}"/>
              </a:ext>
            </a:extLst>
          </p:cNvPr>
          <p:cNvCxnSpPr>
            <a:cxnSpLocks/>
          </p:cNvCxnSpPr>
          <p:nvPr/>
        </p:nvCxnSpPr>
        <p:spPr>
          <a:xfrm flipH="1">
            <a:off x="4225860" y="4501282"/>
            <a:ext cx="6693" cy="349281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51DDFC9-0CFD-4569-9FA0-D4D8BB4E9B5F}"/>
              </a:ext>
            </a:extLst>
          </p:cNvPr>
          <p:cNvCxnSpPr>
            <a:cxnSpLocks/>
          </p:cNvCxnSpPr>
          <p:nvPr/>
        </p:nvCxnSpPr>
        <p:spPr>
          <a:xfrm flipH="1">
            <a:off x="7557160" y="4274094"/>
            <a:ext cx="6693" cy="349281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78923D45-29AD-B5DE-5445-CD012D07428A}"/>
              </a:ext>
            </a:extLst>
          </p:cNvPr>
          <p:cNvSpPr/>
          <p:nvPr/>
        </p:nvSpPr>
        <p:spPr>
          <a:xfrm>
            <a:off x="6732219" y="3602116"/>
            <a:ext cx="2000250" cy="165760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5DE1C81-9EF3-E6AF-88AA-EE6F4381ABD1}"/>
              </a:ext>
            </a:extLst>
          </p:cNvPr>
          <p:cNvSpPr txBox="1"/>
          <p:nvPr/>
        </p:nvSpPr>
        <p:spPr>
          <a:xfrm>
            <a:off x="6828751" y="359217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100"/>
              <a:t>Mule Runtime</a:t>
            </a:r>
            <a:r>
              <a:rPr kumimoji="1" lang="ja-JP" altLang="en-US" sz="1100"/>
              <a:t> </a:t>
            </a:r>
            <a:r>
              <a:rPr lang="en-US" altLang="ja-JP" sz="1100"/>
              <a:t>2</a:t>
            </a:r>
            <a:endParaRPr kumimoji="1" lang="ja-JP" altLang="en-US" sz="110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87734A6D-CF15-04A4-E4EC-2139E0B835EE}"/>
              </a:ext>
            </a:extLst>
          </p:cNvPr>
          <p:cNvSpPr/>
          <p:nvPr/>
        </p:nvSpPr>
        <p:spPr>
          <a:xfrm>
            <a:off x="6925641" y="3933577"/>
            <a:ext cx="1701639" cy="4817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>
                <a:solidFill>
                  <a:schemeClr val="bg1">
                    <a:lumMod val="95000"/>
                  </a:schemeClr>
                </a:solidFill>
              </a:rPr>
              <a:t>Mule Gateway</a:t>
            </a:r>
          </a:p>
          <a:p>
            <a:pPr algn="ctr"/>
            <a:r>
              <a:rPr lang="en-US" altLang="ja-JP" sz="105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ja-JP" altLang="en-US" sz="1050">
                <a:solidFill>
                  <a:schemeClr val="bg1">
                    <a:lumMod val="95000"/>
                  </a:schemeClr>
                </a:solidFill>
              </a:rPr>
              <a:t>埋め込み</a:t>
            </a:r>
            <a:r>
              <a:rPr lang="en-US" altLang="ja-JP" sz="1050">
                <a:solidFill>
                  <a:schemeClr val="bg1">
                    <a:lumMod val="95000"/>
                  </a:schemeClr>
                </a:solidFill>
              </a:rPr>
              <a:t>API Gateway)</a:t>
            </a:r>
            <a:endParaRPr kumimoji="1" lang="ja-JP" altLang="en-US" sz="105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AEF9C3A-CDF0-1D12-4EFE-A20C4C0E24AB}"/>
              </a:ext>
            </a:extLst>
          </p:cNvPr>
          <p:cNvSpPr/>
          <p:nvPr/>
        </p:nvSpPr>
        <p:spPr>
          <a:xfrm>
            <a:off x="6925641" y="4804048"/>
            <a:ext cx="1701639" cy="349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tx1"/>
                </a:solidFill>
              </a:rPr>
              <a:t>Hello</a:t>
            </a:r>
            <a:r>
              <a:rPr lang="ja-JP" altLang="en-US" sz="1050">
                <a:solidFill>
                  <a:schemeClr val="tx1"/>
                </a:solidFill>
              </a:rPr>
              <a:t> </a:t>
            </a:r>
            <a:r>
              <a:rPr lang="en-US" altLang="ja-JP" sz="1050">
                <a:solidFill>
                  <a:schemeClr val="tx1"/>
                </a:solidFill>
              </a:rPr>
              <a:t>World</a:t>
            </a:r>
            <a:r>
              <a:rPr kumimoji="1" lang="ja-JP" altLang="en-US" sz="1050">
                <a:solidFill>
                  <a:schemeClr val="tx1"/>
                </a:solidFill>
              </a:rPr>
              <a:t>アプリ</a:t>
            </a:r>
            <a:endParaRPr kumimoji="1" lang="en-US" altLang="ja-JP" sz="1050">
              <a:solidFill>
                <a:schemeClr val="tx1"/>
              </a:solidFill>
            </a:endParaRPr>
          </a:p>
          <a:p>
            <a:pPr algn="ctr"/>
            <a:r>
              <a:rPr lang="en-US" altLang="ja-JP" sz="1050">
                <a:solidFill>
                  <a:schemeClr val="tx1"/>
                </a:solidFill>
              </a:rPr>
              <a:t>(lab-gateway)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384F1BD9-D5CD-3662-53E5-8C57A74D1419}"/>
              </a:ext>
            </a:extLst>
          </p:cNvPr>
          <p:cNvCxnSpPr>
            <a:cxnSpLocks/>
          </p:cNvCxnSpPr>
          <p:nvPr/>
        </p:nvCxnSpPr>
        <p:spPr>
          <a:xfrm flipH="1">
            <a:off x="7709560" y="4426494"/>
            <a:ext cx="6693" cy="349281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吹き出し: 四角形 40">
            <a:extLst>
              <a:ext uri="{FF2B5EF4-FFF2-40B4-BE49-F238E27FC236}">
                <a16:creationId xmlns:a16="http://schemas.microsoft.com/office/drawing/2014/main" id="{899A1606-0A41-0AF9-5F8C-3D9843BA6E64}"/>
              </a:ext>
            </a:extLst>
          </p:cNvPr>
          <p:cNvSpPr/>
          <p:nvPr/>
        </p:nvSpPr>
        <p:spPr>
          <a:xfrm>
            <a:off x="1689287" y="4028045"/>
            <a:ext cx="1647465" cy="611911"/>
          </a:xfrm>
          <a:prstGeom prst="wedgeRectCallout">
            <a:avLst>
              <a:gd name="adj1" fmla="val 93155"/>
              <a:gd name="adj2" fmla="val 56806"/>
            </a:avLst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solidFill>
                  <a:schemeClr val="tx1"/>
                </a:solidFill>
              </a:rPr>
              <a:t>プロキシ</a:t>
            </a:r>
            <a:r>
              <a:rPr lang="ja-JP" altLang="en-US" sz="1000">
                <a:solidFill>
                  <a:schemeClr val="tx1"/>
                </a:solidFill>
              </a:rPr>
              <a:t>アプリのレート制限ポリシーを埋め込む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58" name="吹き出し: 四角形 57">
            <a:extLst>
              <a:ext uri="{FF2B5EF4-FFF2-40B4-BE49-F238E27FC236}">
                <a16:creationId xmlns:a16="http://schemas.microsoft.com/office/drawing/2014/main" id="{63408EF8-E7B3-4440-ED32-03EC1CCCC15D}"/>
              </a:ext>
            </a:extLst>
          </p:cNvPr>
          <p:cNvSpPr/>
          <p:nvPr/>
        </p:nvSpPr>
        <p:spPr>
          <a:xfrm>
            <a:off x="8229306" y="2944266"/>
            <a:ext cx="1559846" cy="611911"/>
          </a:xfrm>
          <a:prstGeom prst="wedgeRectCallout">
            <a:avLst>
              <a:gd name="adj1" fmla="val -41515"/>
              <a:gd name="adj2" fmla="val 105061"/>
            </a:avLst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solidFill>
                  <a:schemeClr val="tx1"/>
                </a:solidFill>
              </a:rPr>
              <a:t>こちらの</a:t>
            </a:r>
            <a:r>
              <a:rPr kumimoji="1" lang="en-US" altLang="ja-JP" sz="1000">
                <a:solidFill>
                  <a:schemeClr val="tx1"/>
                </a:solidFill>
              </a:rPr>
              <a:t>Mule Gateway</a:t>
            </a:r>
            <a:r>
              <a:rPr kumimoji="1" lang="ja-JP" altLang="en-US" sz="1000">
                <a:solidFill>
                  <a:schemeClr val="tx1"/>
                </a:solidFill>
              </a:rPr>
              <a:t>は使わない</a:t>
            </a: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F9BBCEE6-4703-35F1-4698-39C4975DC412}"/>
              </a:ext>
            </a:extLst>
          </p:cNvPr>
          <p:cNvSpPr/>
          <p:nvPr/>
        </p:nvSpPr>
        <p:spPr>
          <a:xfrm>
            <a:off x="2724148" y="5995462"/>
            <a:ext cx="7324725" cy="53973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インフラ基盤</a:t>
            </a:r>
            <a:r>
              <a:rPr kumimoji="1" lang="en-US" altLang="ja-JP">
                <a:solidFill>
                  <a:schemeClr val="tx1"/>
                </a:solidFill>
              </a:rPr>
              <a:t>(OS</a:t>
            </a:r>
            <a:r>
              <a:rPr kumimoji="1" lang="ja-JP" altLang="en-US">
                <a:solidFill>
                  <a:schemeClr val="tx1"/>
                </a:solidFill>
              </a:rPr>
              <a:t>・物理サーバ</a:t>
            </a:r>
            <a:r>
              <a:rPr kumimoji="1" lang="en-US" altLang="ja-JP">
                <a:solidFill>
                  <a:schemeClr val="tx1"/>
                </a:solidFill>
              </a:rPr>
              <a:t>/VM)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5AFCB56-E192-2F20-77A3-D23A2F2594E9}"/>
              </a:ext>
            </a:extLst>
          </p:cNvPr>
          <p:cNvSpPr/>
          <p:nvPr/>
        </p:nvSpPr>
        <p:spPr>
          <a:xfrm>
            <a:off x="267574" y="4841152"/>
            <a:ext cx="1419225" cy="3429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クライアント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879AF543-DB8E-B885-BBDB-6D1BA72D08E3}"/>
              </a:ext>
            </a:extLst>
          </p:cNvPr>
          <p:cNvCxnSpPr>
            <a:cxnSpLocks/>
          </p:cNvCxnSpPr>
          <p:nvPr/>
        </p:nvCxnSpPr>
        <p:spPr>
          <a:xfrm>
            <a:off x="1812144" y="4946749"/>
            <a:ext cx="162979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8ACA7549-C350-29D4-6F5C-8D577E657697}"/>
              </a:ext>
            </a:extLst>
          </p:cNvPr>
          <p:cNvCxnSpPr>
            <a:cxnSpLocks/>
          </p:cNvCxnSpPr>
          <p:nvPr/>
        </p:nvCxnSpPr>
        <p:spPr>
          <a:xfrm flipH="1">
            <a:off x="1786276" y="5061708"/>
            <a:ext cx="165566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5E03236A-3403-3A91-60E4-A2A599CA8324}"/>
              </a:ext>
            </a:extLst>
          </p:cNvPr>
          <p:cNvCxnSpPr>
            <a:cxnSpLocks/>
          </p:cNvCxnSpPr>
          <p:nvPr/>
        </p:nvCxnSpPr>
        <p:spPr>
          <a:xfrm>
            <a:off x="5782036" y="4897643"/>
            <a:ext cx="104671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3CC60072-C031-63B2-A2B5-5EFDA35DDEBD}"/>
              </a:ext>
            </a:extLst>
          </p:cNvPr>
          <p:cNvCxnSpPr>
            <a:cxnSpLocks/>
          </p:cNvCxnSpPr>
          <p:nvPr/>
        </p:nvCxnSpPr>
        <p:spPr>
          <a:xfrm flipH="1">
            <a:off x="5782036" y="5012602"/>
            <a:ext cx="104671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E74D886-4A08-F031-825F-56B8F807B111}"/>
              </a:ext>
            </a:extLst>
          </p:cNvPr>
          <p:cNvSpPr txBox="1"/>
          <p:nvPr/>
        </p:nvSpPr>
        <p:spPr>
          <a:xfrm>
            <a:off x="9043510" y="2490885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1400"/>
              <a:t>Cloud Hub 2.0</a:t>
            </a:r>
            <a:endParaRPr kumimoji="1" lang="ja-JP" altLang="en-US" sz="1400"/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CCDB8FCA-5A84-8BCC-E67C-7CB943A0B68E}"/>
              </a:ext>
            </a:extLst>
          </p:cNvPr>
          <p:cNvCxnSpPr>
            <a:cxnSpLocks/>
          </p:cNvCxnSpPr>
          <p:nvPr/>
        </p:nvCxnSpPr>
        <p:spPr>
          <a:xfrm>
            <a:off x="7466963" y="2106433"/>
            <a:ext cx="0" cy="282544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9609D12F-AB9F-FB58-AD30-F7B68F7B2F9E}"/>
              </a:ext>
            </a:extLst>
          </p:cNvPr>
          <p:cNvCxnSpPr>
            <a:cxnSpLocks/>
          </p:cNvCxnSpPr>
          <p:nvPr/>
        </p:nvCxnSpPr>
        <p:spPr>
          <a:xfrm flipV="1">
            <a:off x="7563853" y="2044669"/>
            <a:ext cx="0" cy="344308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D4FB7FFF-B670-8552-92F7-6F117A3EA136}"/>
              </a:ext>
            </a:extLst>
          </p:cNvPr>
          <p:cNvCxnSpPr>
            <a:cxnSpLocks/>
          </p:cNvCxnSpPr>
          <p:nvPr/>
        </p:nvCxnSpPr>
        <p:spPr>
          <a:xfrm>
            <a:off x="5359054" y="1823889"/>
            <a:ext cx="0" cy="3054948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4AF80DF7-B59A-B791-A694-1964E4D4743D}"/>
              </a:ext>
            </a:extLst>
          </p:cNvPr>
          <p:cNvCxnSpPr>
            <a:cxnSpLocks/>
          </p:cNvCxnSpPr>
          <p:nvPr/>
        </p:nvCxnSpPr>
        <p:spPr>
          <a:xfrm flipV="1">
            <a:off x="4195932" y="2000250"/>
            <a:ext cx="0" cy="344308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DCB23BF9-CA4F-8ADC-7D22-5D88682F749C}"/>
              </a:ext>
            </a:extLst>
          </p:cNvPr>
          <p:cNvSpPr/>
          <p:nvPr/>
        </p:nvSpPr>
        <p:spPr>
          <a:xfrm>
            <a:off x="3661531" y="1408321"/>
            <a:ext cx="1877624" cy="36998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50">
                <a:solidFill>
                  <a:schemeClr val="tx1"/>
                </a:solidFill>
              </a:rPr>
              <a:t>API Instance </a:t>
            </a:r>
          </a:p>
          <a:p>
            <a:r>
              <a:rPr lang="en-US" altLang="ja-JP" sz="1050">
                <a:solidFill>
                  <a:schemeClr val="tx1"/>
                </a:solidFill>
              </a:rPr>
              <a:t>(lab-gateway-api)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884B529C-9F4E-4C48-C6FA-B281EFC1E714}"/>
              </a:ext>
            </a:extLst>
          </p:cNvPr>
          <p:cNvCxnSpPr>
            <a:cxnSpLocks/>
          </p:cNvCxnSpPr>
          <p:nvPr/>
        </p:nvCxnSpPr>
        <p:spPr>
          <a:xfrm>
            <a:off x="5030891" y="1811154"/>
            <a:ext cx="0" cy="2216891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90B00B7C-E492-AB1F-A207-9289AA1D16E8}"/>
              </a:ext>
            </a:extLst>
          </p:cNvPr>
          <p:cNvSpPr/>
          <p:nvPr/>
        </p:nvSpPr>
        <p:spPr>
          <a:xfrm>
            <a:off x="5207114" y="1885897"/>
            <a:ext cx="1718527" cy="41433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</a:rPr>
              <a:t>Autodiscovery</a:t>
            </a:r>
            <a:r>
              <a:rPr kumimoji="1" lang="ja-JP" altLang="en-US" sz="1050">
                <a:solidFill>
                  <a:schemeClr val="tx1"/>
                </a:solidFill>
              </a:rPr>
              <a:t>による</a:t>
            </a:r>
            <a:r>
              <a:rPr kumimoji="1" lang="en-US" altLang="ja-JP" sz="1050">
                <a:solidFill>
                  <a:schemeClr val="tx1"/>
                </a:solidFill>
              </a:rPr>
              <a:t>(ID</a:t>
            </a:r>
            <a:r>
              <a:rPr kumimoji="1" lang="ja-JP" altLang="en-US" sz="1050">
                <a:solidFill>
                  <a:schemeClr val="tx1"/>
                </a:solidFill>
              </a:rPr>
              <a:t>を用いた</a:t>
            </a:r>
            <a:r>
              <a:rPr kumimoji="1" lang="en-US" altLang="ja-JP" sz="1050">
                <a:solidFill>
                  <a:schemeClr val="tx1"/>
                </a:solidFill>
              </a:rPr>
              <a:t>)</a:t>
            </a:r>
            <a:r>
              <a:rPr kumimoji="1" lang="ja-JP" altLang="en-US" sz="1050">
                <a:solidFill>
                  <a:schemeClr val="tx1"/>
                </a:solidFill>
              </a:rPr>
              <a:t>関連付け</a:t>
            </a:r>
          </a:p>
        </p:txBody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E985DE49-D067-EDA5-5528-C5C1D6192820}"/>
              </a:ext>
            </a:extLst>
          </p:cNvPr>
          <p:cNvSpPr/>
          <p:nvPr/>
        </p:nvSpPr>
        <p:spPr>
          <a:xfrm>
            <a:off x="4287438" y="2418014"/>
            <a:ext cx="1016732" cy="35500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ポリシーの配信・取得</a:t>
            </a:r>
          </a:p>
        </p:txBody>
      </p:sp>
      <p:sp>
        <p:nvSpPr>
          <p:cNvPr id="99" name="吹き出し: 四角形 98">
            <a:extLst>
              <a:ext uri="{FF2B5EF4-FFF2-40B4-BE49-F238E27FC236}">
                <a16:creationId xmlns:a16="http://schemas.microsoft.com/office/drawing/2014/main" id="{B25808B5-D4A6-EAF8-B5B2-965E77AA266E}"/>
              </a:ext>
            </a:extLst>
          </p:cNvPr>
          <p:cNvSpPr/>
          <p:nvPr/>
        </p:nvSpPr>
        <p:spPr>
          <a:xfrm>
            <a:off x="8732469" y="4426495"/>
            <a:ext cx="1371289" cy="655236"/>
          </a:xfrm>
          <a:prstGeom prst="wedgeRectCallout">
            <a:avLst>
              <a:gd name="adj1" fmla="val -64109"/>
              <a:gd name="adj2" fmla="val 41240"/>
            </a:avLst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Hello World</a:t>
            </a:r>
            <a:r>
              <a:rPr kumimoji="1" lang="ja-JP" altLang="en-US" sz="1000">
                <a:solidFill>
                  <a:schemeClr val="tx1"/>
                </a:solidFill>
              </a:rPr>
              <a:t>を返す</a:t>
            </a:r>
            <a:r>
              <a:rPr kumimoji="1" lang="en-US" altLang="ja-JP" sz="1000">
                <a:solidFill>
                  <a:schemeClr val="tx1"/>
                </a:solidFill>
              </a:rPr>
              <a:t>API</a:t>
            </a:r>
            <a:r>
              <a:rPr kumimoji="1" lang="ja-JP" altLang="en-US" sz="1000">
                <a:solidFill>
                  <a:schemeClr val="tx1"/>
                </a:solidFill>
              </a:rPr>
              <a:t>が実装されたバックエンド</a:t>
            </a:r>
            <a:r>
              <a:rPr lang="ja-JP" altLang="en-US" sz="1000">
                <a:solidFill>
                  <a:schemeClr val="tx1"/>
                </a:solidFill>
              </a:rPr>
              <a:t>アプリ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01" name="吹き出し: 四角形 100">
            <a:extLst>
              <a:ext uri="{FF2B5EF4-FFF2-40B4-BE49-F238E27FC236}">
                <a16:creationId xmlns:a16="http://schemas.microsoft.com/office/drawing/2014/main" id="{EDAE9954-D66A-B9E6-4769-6DE63C355F17}"/>
              </a:ext>
            </a:extLst>
          </p:cNvPr>
          <p:cNvSpPr/>
          <p:nvPr/>
        </p:nvSpPr>
        <p:spPr>
          <a:xfrm>
            <a:off x="2024485" y="1353287"/>
            <a:ext cx="1442138" cy="518917"/>
          </a:xfrm>
          <a:prstGeom prst="wedgeRectCallout">
            <a:avLst>
              <a:gd name="adj1" fmla="val 65087"/>
              <a:gd name="adj2" fmla="val -3824"/>
            </a:avLst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solidFill>
                  <a:schemeClr val="tx1"/>
                </a:solidFill>
              </a:rPr>
              <a:t>管理対象となる</a:t>
            </a:r>
            <a:r>
              <a:rPr kumimoji="1" lang="en-US" altLang="ja-JP" sz="1000">
                <a:solidFill>
                  <a:schemeClr val="tx1"/>
                </a:solidFill>
              </a:rPr>
              <a:t>API</a:t>
            </a:r>
            <a:r>
              <a:rPr kumimoji="1" lang="ja-JP" altLang="en-US" sz="1000">
                <a:solidFill>
                  <a:schemeClr val="tx1"/>
                </a:solidFill>
              </a:rPr>
              <a:t>を、</a:t>
            </a:r>
            <a:r>
              <a:rPr kumimoji="1" lang="en-US" altLang="ja-JP" sz="1000">
                <a:solidFill>
                  <a:schemeClr val="tx1"/>
                </a:solidFill>
              </a:rPr>
              <a:t>API Manger</a:t>
            </a:r>
            <a:r>
              <a:rPr kumimoji="1" lang="ja-JP" altLang="en-US" sz="1000">
                <a:solidFill>
                  <a:schemeClr val="tx1"/>
                </a:solidFill>
              </a:rPr>
              <a:t>上で表す管理情報</a:t>
            </a:r>
          </a:p>
        </p:txBody>
      </p:sp>
    </p:spTree>
    <p:extLst>
      <p:ext uri="{BB962C8B-B14F-4D97-AF65-F5344CB8AC3E}">
        <p14:creationId xmlns:p14="http://schemas.microsoft.com/office/powerpoint/2010/main" val="335253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D585F21-AE48-4D1E-6D42-607518BDDFAA}"/>
              </a:ext>
            </a:extLst>
          </p:cNvPr>
          <p:cNvSpPr/>
          <p:nvPr/>
        </p:nvSpPr>
        <p:spPr>
          <a:xfrm>
            <a:off x="5805270" y="970670"/>
            <a:ext cx="2699614" cy="162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600" b="1">
                <a:solidFill>
                  <a:schemeClr val="tx1"/>
                </a:solidFill>
              </a:rPr>
              <a:t>JVM (JDK8</a:t>
            </a:r>
            <a:r>
              <a:rPr kumimoji="1" lang="ja-JP" altLang="en-US" sz="1600" b="1">
                <a:solidFill>
                  <a:schemeClr val="tx1"/>
                </a:solidFill>
              </a:rPr>
              <a:t>の</a:t>
            </a:r>
            <a:r>
              <a:rPr kumimoji="1" lang="en-US" altLang="ja-JP" sz="1600" b="1">
                <a:solidFill>
                  <a:schemeClr val="tx1"/>
                </a:solidFill>
              </a:rPr>
              <a:t>JVM)</a:t>
            </a:r>
            <a:endParaRPr kumimoji="1" lang="ja-JP" altLang="en-US" sz="1600" b="1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37DBB0F-E5A5-DBCB-D74B-060D9A018022}"/>
              </a:ext>
            </a:extLst>
          </p:cNvPr>
          <p:cNvSpPr/>
          <p:nvPr/>
        </p:nvSpPr>
        <p:spPr>
          <a:xfrm>
            <a:off x="381212" y="970670"/>
            <a:ext cx="2699613" cy="162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600" b="1">
                <a:solidFill>
                  <a:schemeClr val="tx1"/>
                </a:solidFill>
              </a:rPr>
              <a:t>JVM (JDK17</a:t>
            </a:r>
            <a:r>
              <a:rPr lang="ja-JP" altLang="en-US" sz="1600" b="1">
                <a:solidFill>
                  <a:schemeClr val="tx1"/>
                </a:solidFill>
              </a:rPr>
              <a:t>の</a:t>
            </a:r>
            <a:r>
              <a:rPr lang="en-US" altLang="ja-JP" sz="1600" b="1">
                <a:solidFill>
                  <a:schemeClr val="tx1"/>
                </a:solidFill>
              </a:rPr>
              <a:t>JVM</a:t>
            </a:r>
            <a:r>
              <a:rPr kumimoji="1" lang="en-US" altLang="ja-JP" sz="1600" b="1">
                <a:solidFill>
                  <a:schemeClr val="tx1"/>
                </a:solidFill>
              </a:rPr>
              <a:t>)</a:t>
            </a:r>
            <a:endParaRPr kumimoji="1" lang="ja-JP" altLang="en-US" sz="1600" b="1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B554DB1-FCA3-0171-5D27-79488D4CB8AF}"/>
              </a:ext>
            </a:extLst>
          </p:cNvPr>
          <p:cNvSpPr/>
          <p:nvPr/>
        </p:nvSpPr>
        <p:spPr>
          <a:xfrm>
            <a:off x="894684" y="1406768"/>
            <a:ext cx="1904787" cy="984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b="1">
                <a:solidFill>
                  <a:schemeClr val="tx1"/>
                </a:solidFill>
              </a:rPr>
              <a:t>Mule Runtime 4.13.0</a:t>
            </a:r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5ECA89-C54F-1CB5-242F-08CB7EBDE781}"/>
              </a:ext>
            </a:extLst>
          </p:cNvPr>
          <p:cNvSpPr/>
          <p:nvPr/>
        </p:nvSpPr>
        <p:spPr>
          <a:xfrm>
            <a:off x="6333603" y="1406768"/>
            <a:ext cx="1980404" cy="984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b="1">
                <a:solidFill>
                  <a:schemeClr val="tx1"/>
                </a:solidFill>
              </a:rPr>
              <a:t>Tomcat</a:t>
            </a:r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247B425-A3B2-6723-FB24-B85AD164CED4}"/>
              </a:ext>
            </a:extLst>
          </p:cNvPr>
          <p:cNvSpPr/>
          <p:nvPr/>
        </p:nvSpPr>
        <p:spPr>
          <a:xfrm>
            <a:off x="1118593" y="1706882"/>
            <a:ext cx="1332416" cy="5720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200" b="1">
                <a:solidFill>
                  <a:schemeClr val="bg1"/>
                </a:solidFill>
              </a:rPr>
              <a:t>Mule </a:t>
            </a:r>
            <a:r>
              <a:rPr lang="en-US" altLang="ja-JP" sz="1200" b="1">
                <a:solidFill>
                  <a:schemeClr val="bg1"/>
                </a:solidFill>
              </a:rPr>
              <a:t>App</a:t>
            </a:r>
          </a:p>
          <a:p>
            <a:r>
              <a:rPr kumimoji="1" lang="en-US" altLang="ja-JP" sz="1200" b="1">
                <a:solidFill>
                  <a:schemeClr val="bg1"/>
                </a:solidFill>
              </a:rPr>
              <a:t>(Java 17)</a:t>
            </a:r>
            <a:endParaRPr kumimoji="1" lang="ja-JP" altLang="en-US" sz="1200" b="1">
              <a:solidFill>
                <a:schemeClr val="bg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34C4EE0-0A36-8CE7-6AC7-92ED069BC0F9}"/>
              </a:ext>
            </a:extLst>
          </p:cNvPr>
          <p:cNvSpPr/>
          <p:nvPr/>
        </p:nvSpPr>
        <p:spPr>
          <a:xfrm>
            <a:off x="6604992" y="1706882"/>
            <a:ext cx="1512065" cy="5720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200" b="1">
                <a:solidFill>
                  <a:schemeClr val="bg1"/>
                </a:solidFill>
              </a:rPr>
              <a:t>Java</a:t>
            </a:r>
            <a:r>
              <a:rPr kumimoji="1" lang="en-US" altLang="ja-JP" sz="1200" b="1">
                <a:solidFill>
                  <a:schemeClr val="bg1"/>
                </a:solidFill>
              </a:rPr>
              <a:t> </a:t>
            </a:r>
            <a:r>
              <a:rPr lang="en-US" altLang="ja-JP" sz="1200" b="1">
                <a:solidFill>
                  <a:schemeClr val="bg1"/>
                </a:solidFill>
              </a:rPr>
              <a:t>App</a:t>
            </a:r>
          </a:p>
          <a:p>
            <a:r>
              <a:rPr kumimoji="1" lang="ja-JP" altLang="en-US" sz="1200" b="1">
                <a:solidFill>
                  <a:schemeClr val="bg1"/>
                </a:solidFill>
              </a:rPr>
              <a:t>（システム連携処理を実装</a:t>
            </a:r>
            <a:r>
              <a:rPr kumimoji="1" lang="en-US" altLang="ja-JP" sz="1200" b="1">
                <a:solidFill>
                  <a:schemeClr val="bg1"/>
                </a:solidFill>
              </a:rPr>
              <a:t>, Java 8</a:t>
            </a:r>
            <a:r>
              <a:rPr kumimoji="1" lang="ja-JP" altLang="en-US" sz="1200" b="1">
                <a:solidFill>
                  <a:schemeClr val="bg1"/>
                </a:solidFill>
              </a:rPr>
              <a:t>）</a:t>
            </a:r>
            <a:endParaRPr lang="en-US" altLang="ja-JP" sz="1200" b="1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D03916B-DB23-E620-C2D6-1DC4B8423616}"/>
              </a:ext>
            </a:extLst>
          </p:cNvPr>
          <p:cNvSpPr txBox="1"/>
          <p:nvPr/>
        </p:nvSpPr>
        <p:spPr>
          <a:xfrm>
            <a:off x="381212" y="272536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/>
              <a:t>通常の</a:t>
            </a:r>
            <a:r>
              <a:rPr kumimoji="1" lang="en-US" altLang="ja-JP"/>
              <a:t>Mule</a:t>
            </a:r>
            <a:r>
              <a:rPr kumimoji="1" lang="ja-JP" altLang="en-US"/>
              <a:t>アプリ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F7F114B-3696-4CEA-A701-BDA58CC4A593}"/>
              </a:ext>
            </a:extLst>
          </p:cNvPr>
          <p:cNvSpPr txBox="1"/>
          <p:nvPr/>
        </p:nvSpPr>
        <p:spPr>
          <a:xfrm>
            <a:off x="5805269" y="272536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/>
              <a:t>古い</a:t>
            </a:r>
            <a:r>
              <a:rPr kumimoji="1" lang="en-US" altLang="ja-JP"/>
              <a:t>Java</a:t>
            </a:r>
            <a:r>
              <a:rPr kumimoji="1" lang="ja-JP" altLang="en-US"/>
              <a:t>アプリ</a:t>
            </a:r>
            <a:r>
              <a:rPr kumimoji="1" lang="en-US" altLang="ja-JP"/>
              <a:t>(</a:t>
            </a:r>
            <a:r>
              <a:rPr kumimoji="1" lang="ja-JP" altLang="en-US"/>
              <a:t>勘定取引</a:t>
            </a:r>
            <a:r>
              <a:rPr kumimoji="1" lang="en-US" altLang="ja-JP"/>
              <a:t>API</a:t>
            </a:r>
            <a:r>
              <a:rPr kumimoji="1" lang="ja-JP" altLang="en-US"/>
              <a:t>とか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C5205F7-1B3E-2006-E486-1C463DC10C95}"/>
              </a:ext>
            </a:extLst>
          </p:cNvPr>
          <p:cNvSpPr txBox="1"/>
          <p:nvPr/>
        </p:nvSpPr>
        <p:spPr>
          <a:xfrm>
            <a:off x="381212" y="367284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/>
              <a:t>方式</a:t>
            </a:r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A14D0EE-D579-1049-C46C-3D65C9E216A8}"/>
              </a:ext>
            </a:extLst>
          </p:cNvPr>
          <p:cNvSpPr/>
          <p:nvPr/>
        </p:nvSpPr>
        <p:spPr>
          <a:xfrm>
            <a:off x="381212" y="4341052"/>
            <a:ext cx="4697225" cy="162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600" b="1">
                <a:solidFill>
                  <a:schemeClr val="tx1"/>
                </a:solidFill>
              </a:rPr>
              <a:t>JVM (JDK17</a:t>
            </a:r>
            <a:r>
              <a:rPr lang="ja-JP" altLang="en-US" sz="1600" b="1">
                <a:solidFill>
                  <a:schemeClr val="tx1"/>
                </a:solidFill>
              </a:rPr>
              <a:t>の</a:t>
            </a:r>
            <a:r>
              <a:rPr lang="en-US" altLang="ja-JP" sz="1600" b="1">
                <a:solidFill>
                  <a:schemeClr val="tx1"/>
                </a:solidFill>
              </a:rPr>
              <a:t>JVM</a:t>
            </a:r>
            <a:r>
              <a:rPr kumimoji="1" lang="en-US" altLang="ja-JP" sz="1600" b="1">
                <a:solidFill>
                  <a:schemeClr val="tx1"/>
                </a:solidFill>
              </a:rPr>
              <a:t>)</a:t>
            </a:r>
            <a:endParaRPr kumimoji="1" lang="ja-JP" altLang="en-US" sz="1600" b="1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FAB4633-B9CC-5E02-E4DE-3C56C115AE4B}"/>
              </a:ext>
            </a:extLst>
          </p:cNvPr>
          <p:cNvSpPr/>
          <p:nvPr/>
        </p:nvSpPr>
        <p:spPr>
          <a:xfrm>
            <a:off x="571127" y="4807684"/>
            <a:ext cx="2509698" cy="984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b="1">
                <a:solidFill>
                  <a:schemeClr val="tx1"/>
                </a:solidFill>
              </a:rPr>
              <a:t>Mule Runtime 4.13.0</a:t>
            </a:r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1BDC7DC-52F2-8A33-47F0-48B398109C3E}"/>
              </a:ext>
            </a:extLst>
          </p:cNvPr>
          <p:cNvSpPr/>
          <p:nvPr/>
        </p:nvSpPr>
        <p:spPr>
          <a:xfrm>
            <a:off x="795035" y="5107798"/>
            <a:ext cx="2088841" cy="5720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200" b="1">
                <a:solidFill>
                  <a:schemeClr val="bg1"/>
                </a:solidFill>
              </a:rPr>
              <a:t>Mule </a:t>
            </a:r>
            <a:r>
              <a:rPr lang="en-US" altLang="ja-JP" sz="1200" b="1">
                <a:solidFill>
                  <a:schemeClr val="bg1"/>
                </a:solidFill>
              </a:rPr>
              <a:t>App</a:t>
            </a:r>
          </a:p>
          <a:p>
            <a:r>
              <a:rPr kumimoji="1" lang="en-US" altLang="ja-JP" sz="1200" b="1">
                <a:solidFill>
                  <a:schemeClr val="bg1"/>
                </a:solidFill>
              </a:rPr>
              <a:t>(</a:t>
            </a:r>
            <a:r>
              <a:rPr lang="en-US" altLang="ja-JP" sz="1200" b="1">
                <a:solidFill>
                  <a:schemeClr val="bg1"/>
                </a:solidFill>
              </a:rPr>
              <a:t>Mule HTTP Listener + Java Module)</a:t>
            </a:r>
            <a:endParaRPr kumimoji="1" lang="ja-JP" altLang="en-US" sz="1200" b="1">
              <a:solidFill>
                <a:schemeClr val="bg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66891BB-7106-0E32-AEC8-F5CC322912B0}"/>
              </a:ext>
            </a:extLst>
          </p:cNvPr>
          <p:cNvSpPr/>
          <p:nvPr/>
        </p:nvSpPr>
        <p:spPr>
          <a:xfrm>
            <a:off x="3270740" y="5107798"/>
            <a:ext cx="1512065" cy="5720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200" b="1">
                <a:solidFill>
                  <a:schemeClr val="bg1"/>
                </a:solidFill>
              </a:rPr>
              <a:t>Java</a:t>
            </a:r>
            <a:r>
              <a:rPr kumimoji="1" lang="en-US" altLang="ja-JP" sz="1200" b="1">
                <a:solidFill>
                  <a:schemeClr val="bg1"/>
                </a:solidFill>
              </a:rPr>
              <a:t> </a:t>
            </a:r>
            <a:r>
              <a:rPr lang="en-US" altLang="ja-JP" sz="1200" b="1">
                <a:solidFill>
                  <a:schemeClr val="bg1"/>
                </a:solidFill>
              </a:rPr>
              <a:t>App </a:t>
            </a:r>
            <a:r>
              <a:rPr lang="ja-JP" altLang="en-US" sz="1200" b="1">
                <a:solidFill>
                  <a:schemeClr val="bg1"/>
                </a:solidFill>
              </a:rPr>
              <a:t>の </a:t>
            </a:r>
            <a:r>
              <a:rPr lang="en-US" altLang="ja-JP" sz="1200" b="1">
                <a:solidFill>
                  <a:schemeClr val="bg1"/>
                </a:solidFill>
              </a:rPr>
              <a:t>Jar</a:t>
            </a:r>
          </a:p>
          <a:p>
            <a:r>
              <a:rPr kumimoji="1" lang="ja-JP" altLang="en-US" sz="1200" b="1">
                <a:solidFill>
                  <a:schemeClr val="bg1"/>
                </a:solidFill>
              </a:rPr>
              <a:t>（システム連携処理を実装</a:t>
            </a:r>
            <a:r>
              <a:rPr kumimoji="1" lang="en-US" altLang="ja-JP" sz="1200" b="1">
                <a:solidFill>
                  <a:schemeClr val="bg1"/>
                </a:solidFill>
              </a:rPr>
              <a:t>, Java 8</a:t>
            </a:r>
            <a:r>
              <a:rPr kumimoji="1" lang="ja-JP" altLang="en-US" sz="1200" b="1">
                <a:solidFill>
                  <a:schemeClr val="bg1"/>
                </a:solidFill>
              </a:rPr>
              <a:t>）</a:t>
            </a:r>
            <a:endParaRPr lang="en-US" altLang="ja-JP" sz="1200" b="1">
              <a:solidFill>
                <a:schemeClr val="bg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96D4586-4BA8-02D3-AA73-8DFA8260A77C}"/>
              </a:ext>
            </a:extLst>
          </p:cNvPr>
          <p:cNvSpPr txBox="1"/>
          <p:nvPr/>
        </p:nvSpPr>
        <p:spPr>
          <a:xfrm>
            <a:off x="5805269" y="367284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/>
              <a:t>方式</a:t>
            </a:r>
            <a:r>
              <a:rPr lang="en-US" altLang="ja-JP"/>
              <a:t>2</a:t>
            </a:r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B389644-681C-3D5E-BF57-04EA5A8F8864}"/>
              </a:ext>
            </a:extLst>
          </p:cNvPr>
          <p:cNvSpPr/>
          <p:nvPr/>
        </p:nvSpPr>
        <p:spPr>
          <a:xfrm>
            <a:off x="5805270" y="4341052"/>
            <a:ext cx="2889528" cy="162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600" b="1">
                <a:solidFill>
                  <a:schemeClr val="tx1"/>
                </a:solidFill>
              </a:rPr>
              <a:t>JVM (JDK17</a:t>
            </a:r>
            <a:r>
              <a:rPr lang="ja-JP" altLang="en-US" sz="1600" b="1">
                <a:solidFill>
                  <a:schemeClr val="tx1"/>
                </a:solidFill>
              </a:rPr>
              <a:t>の</a:t>
            </a:r>
            <a:r>
              <a:rPr lang="en-US" altLang="ja-JP" sz="1600" b="1">
                <a:solidFill>
                  <a:schemeClr val="tx1"/>
                </a:solidFill>
              </a:rPr>
              <a:t>JVM</a:t>
            </a:r>
            <a:r>
              <a:rPr kumimoji="1" lang="en-US" altLang="ja-JP" sz="1600" b="1">
                <a:solidFill>
                  <a:schemeClr val="tx1"/>
                </a:solidFill>
              </a:rPr>
              <a:t>)</a:t>
            </a:r>
            <a:endParaRPr kumimoji="1" lang="ja-JP" altLang="en-US" sz="1600" b="1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B2993BF-55BF-B55C-4A65-67F22BFF2CE8}"/>
              </a:ext>
            </a:extLst>
          </p:cNvPr>
          <p:cNvSpPr/>
          <p:nvPr/>
        </p:nvSpPr>
        <p:spPr>
          <a:xfrm>
            <a:off x="5995184" y="4807684"/>
            <a:ext cx="2509698" cy="984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b="1">
                <a:solidFill>
                  <a:schemeClr val="tx1"/>
                </a:solidFill>
              </a:rPr>
              <a:t>Mule Runtime 4.13.0</a:t>
            </a:r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E48045C-F2B7-6EA4-4B97-020BB81CEA4C}"/>
              </a:ext>
            </a:extLst>
          </p:cNvPr>
          <p:cNvSpPr/>
          <p:nvPr/>
        </p:nvSpPr>
        <p:spPr>
          <a:xfrm>
            <a:off x="6219092" y="5107798"/>
            <a:ext cx="2088841" cy="5720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200" b="1">
                <a:solidFill>
                  <a:schemeClr val="bg1"/>
                </a:solidFill>
              </a:rPr>
              <a:t>Mule </a:t>
            </a:r>
            <a:r>
              <a:rPr lang="en-US" altLang="ja-JP" sz="1200" b="1">
                <a:solidFill>
                  <a:schemeClr val="bg1"/>
                </a:solidFill>
              </a:rPr>
              <a:t>App</a:t>
            </a:r>
          </a:p>
          <a:p>
            <a:r>
              <a:rPr kumimoji="1" lang="en-US" altLang="ja-JP" sz="1200" b="1">
                <a:solidFill>
                  <a:schemeClr val="bg1"/>
                </a:solidFill>
              </a:rPr>
              <a:t>(</a:t>
            </a:r>
            <a:r>
              <a:rPr kumimoji="1" lang="ja-JP" altLang="en-US" sz="1200" b="1">
                <a:solidFill>
                  <a:schemeClr val="bg1"/>
                </a:solidFill>
              </a:rPr>
              <a:t>プロキシアプリ</a:t>
            </a:r>
            <a:r>
              <a:rPr lang="en-US" altLang="ja-JP" sz="1200" b="1">
                <a:solidFill>
                  <a:schemeClr val="bg1"/>
                </a:solidFill>
              </a:rPr>
              <a:t>)</a:t>
            </a:r>
            <a:endParaRPr kumimoji="1" lang="ja-JP" altLang="en-US" sz="1200" b="1">
              <a:solidFill>
                <a:schemeClr val="bg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5AE21161-0FAB-CBD1-EA24-B93FACE7276F}"/>
              </a:ext>
            </a:extLst>
          </p:cNvPr>
          <p:cNvSpPr/>
          <p:nvPr/>
        </p:nvSpPr>
        <p:spPr>
          <a:xfrm>
            <a:off x="8921259" y="4341052"/>
            <a:ext cx="2699614" cy="162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600" b="1">
                <a:solidFill>
                  <a:schemeClr val="tx1"/>
                </a:solidFill>
              </a:rPr>
              <a:t>JVM (JDK8</a:t>
            </a:r>
            <a:r>
              <a:rPr kumimoji="1" lang="ja-JP" altLang="en-US" sz="1600" b="1">
                <a:solidFill>
                  <a:schemeClr val="tx1"/>
                </a:solidFill>
              </a:rPr>
              <a:t>の</a:t>
            </a:r>
            <a:r>
              <a:rPr kumimoji="1" lang="en-US" altLang="ja-JP" sz="1600" b="1">
                <a:solidFill>
                  <a:schemeClr val="tx1"/>
                </a:solidFill>
              </a:rPr>
              <a:t>JVM)</a:t>
            </a:r>
            <a:endParaRPr kumimoji="1" lang="ja-JP" altLang="en-US" sz="1600" b="1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106969F-A6D8-0642-23C4-EACEF0E5329B}"/>
              </a:ext>
            </a:extLst>
          </p:cNvPr>
          <p:cNvSpPr/>
          <p:nvPr/>
        </p:nvSpPr>
        <p:spPr>
          <a:xfrm>
            <a:off x="9449592" y="4777150"/>
            <a:ext cx="1980404" cy="9847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b="1">
                <a:solidFill>
                  <a:schemeClr val="tx1"/>
                </a:solidFill>
              </a:rPr>
              <a:t>Tomcat</a:t>
            </a:r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EB8D6BF-BA5E-BC3E-3E70-A820DC48B0FA}"/>
              </a:ext>
            </a:extLst>
          </p:cNvPr>
          <p:cNvSpPr/>
          <p:nvPr/>
        </p:nvSpPr>
        <p:spPr>
          <a:xfrm>
            <a:off x="9720981" y="5077264"/>
            <a:ext cx="1512065" cy="5720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200" b="1">
                <a:solidFill>
                  <a:schemeClr val="bg1"/>
                </a:solidFill>
              </a:rPr>
              <a:t>Java</a:t>
            </a:r>
            <a:r>
              <a:rPr kumimoji="1" lang="en-US" altLang="ja-JP" sz="1200" b="1">
                <a:solidFill>
                  <a:schemeClr val="bg1"/>
                </a:solidFill>
              </a:rPr>
              <a:t> </a:t>
            </a:r>
            <a:r>
              <a:rPr lang="en-US" altLang="ja-JP" sz="1200" b="1">
                <a:solidFill>
                  <a:schemeClr val="bg1"/>
                </a:solidFill>
              </a:rPr>
              <a:t>App</a:t>
            </a:r>
          </a:p>
          <a:p>
            <a:r>
              <a:rPr kumimoji="1" lang="ja-JP" altLang="en-US" sz="1200" b="1">
                <a:solidFill>
                  <a:schemeClr val="bg1"/>
                </a:solidFill>
              </a:rPr>
              <a:t>（システム連携処理を実装</a:t>
            </a:r>
            <a:r>
              <a:rPr kumimoji="1" lang="en-US" altLang="ja-JP" sz="1200" b="1">
                <a:solidFill>
                  <a:schemeClr val="bg1"/>
                </a:solidFill>
              </a:rPr>
              <a:t>, Java 8</a:t>
            </a:r>
            <a:r>
              <a:rPr kumimoji="1" lang="ja-JP" altLang="en-US" sz="1200" b="1">
                <a:solidFill>
                  <a:schemeClr val="bg1"/>
                </a:solidFill>
              </a:rPr>
              <a:t>）</a:t>
            </a:r>
            <a:endParaRPr lang="en-US" altLang="ja-JP" sz="1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705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1C2C162-55ED-CC56-D0ED-DD43345DD621}"/>
              </a:ext>
            </a:extLst>
          </p:cNvPr>
          <p:cNvSpPr/>
          <p:nvPr/>
        </p:nvSpPr>
        <p:spPr>
          <a:xfrm>
            <a:off x="1066800" y="1973325"/>
            <a:ext cx="6934870" cy="4929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</a:rPr>
              <a:t>インターネット </a:t>
            </a:r>
            <a:r>
              <a:rPr lang="en-US" altLang="ja-JP" sz="1200">
                <a:solidFill>
                  <a:schemeClr val="tx1"/>
                </a:solidFill>
              </a:rPr>
              <a:t>(</a:t>
            </a:r>
            <a:r>
              <a:rPr kumimoji="1" lang="ja-JP" altLang="en-US" sz="1200">
                <a:solidFill>
                  <a:schemeClr val="tx1"/>
                </a:solidFill>
              </a:rPr>
              <a:t>他の</a:t>
            </a:r>
            <a:r>
              <a:rPr lang="en-US" altLang="ja-JP" sz="1200">
                <a:solidFill>
                  <a:schemeClr val="tx1"/>
                </a:solidFill>
              </a:rPr>
              <a:t>ISP</a:t>
            </a:r>
            <a:r>
              <a:rPr lang="ja-JP" altLang="en-US" sz="1200">
                <a:solidFill>
                  <a:schemeClr val="tx1"/>
                </a:solidFill>
              </a:rPr>
              <a:t>事業者やコンテンツ事業者などのネットワーク</a:t>
            </a:r>
            <a:r>
              <a:rPr lang="en-US" altLang="ja-JP" sz="1200">
                <a:solidFill>
                  <a:schemeClr val="tx1"/>
                </a:solidFill>
              </a:rPr>
              <a:t>)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249EF29-6743-0845-934F-F161A9786A0F}"/>
              </a:ext>
            </a:extLst>
          </p:cNvPr>
          <p:cNvCxnSpPr>
            <a:cxnSpLocks/>
          </p:cNvCxnSpPr>
          <p:nvPr/>
        </p:nvCxnSpPr>
        <p:spPr>
          <a:xfrm>
            <a:off x="2909888" y="2466245"/>
            <a:ext cx="0" cy="85204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2F2F6BB-BF5F-206A-EEA2-E1F00F00F236}"/>
              </a:ext>
            </a:extLst>
          </p:cNvPr>
          <p:cNvSpPr/>
          <p:nvPr/>
        </p:nvSpPr>
        <p:spPr>
          <a:xfrm>
            <a:off x="771525" y="4855831"/>
            <a:ext cx="3371850" cy="18192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050">
                <a:solidFill>
                  <a:schemeClr val="tx1"/>
                </a:solidFill>
              </a:rPr>
              <a:t>LAN-A (Tokyo site)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73EC652-A475-9977-75CA-E7B7E71E5EB2}"/>
              </a:ext>
            </a:extLst>
          </p:cNvPr>
          <p:cNvSpPr/>
          <p:nvPr/>
        </p:nvSpPr>
        <p:spPr>
          <a:xfrm>
            <a:off x="1066800" y="5336843"/>
            <a:ext cx="1276347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</a:rPr>
              <a:t>PC-A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DCDCE46-D56E-D044-446E-B1128F6031A6}"/>
              </a:ext>
            </a:extLst>
          </p:cNvPr>
          <p:cNvSpPr/>
          <p:nvPr/>
        </p:nvSpPr>
        <p:spPr>
          <a:xfrm>
            <a:off x="1066800" y="5927393"/>
            <a:ext cx="1276347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tx1"/>
                </a:solidFill>
              </a:rPr>
              <a:t>Printer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E33088D-42B0-5AC0-898D-E92B39393822}"/>
              </a:ext>
            </a:extLst>
          </p:cNvPr>
          <p:cNvSpPr/>
          <p:nvPr/>
        </p:nvSpPr>
        <p:spPr>
          <a:xfrm>
            <a:off x="2600325" y="5927392"/>
            <a:ext cx="1276347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tx1"/>
                </a:solidFill>
              </a:rPr>
              <a:t>PC-B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EB35D87-88FF-F3C6-7F13-B968A4389F7A}"/>
              </a:ext>
            </a:extLst>
          </p:cNvPr>
          <p:cNvSpPr/>
          <p:nvPr/>
        </p:nvSpPr>
        <p:spPr>
          <a:xfrm>
            <a:off x="5276850" y="4855831"/>
            <a:ext cx="3371850" cy="18192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050">
                <a:solidFill>
                  <a:schemeClr val="tx1"/>
                </a:solidFill>
              </a:rPr>
              <a:t>LAN-B (Osaka site)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64E1930-B8A6-A7C9-6181-2CA77A15D5AC}"/>
              </a:ext>
            </a:extLst>
          </p:cNvPr>
          <p:cNvSpPr/>
          <p:nvPr/>
        </p:nvSpPr>
        <p:spPr>
          <a:xfrm>
            <a:off x="5505450" y="5336843"/>
            <a:ext cx="1276347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</a:rPr>
              <a:t>PC-A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024CDAA-ECC0-718E-15BD-B4C5A51A0047}"/>
              </a:ext>
            </a:extLst>
          </p:cNvPr>
          <p:cNvSpPr/>
          <p:nvPr/>
        </p:nvSpPr>
        <p:spPr>
          <a:xfrm>
            <a:off x="7038975" y="5927392"/>
            <a:ext cx="1276347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tx1"/>
                </a:solidFill>
              </a:rPr>
              <a:t>PC-B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B3FACA1-4D16-4C68-6FEB-2C63F0AC0680}"/>
              </a:ext>
            </a:extLst>
          </p:cNvPr>
          <p:cNvCxnSpPr>
            <a:cxnSpLocks/>
            <a:stCxn id="68" idx="3"/>
            <a:endCxn id="77" idx="1"/>
          </p:cNvCxnSpPr>
          <p:nvPr/>
        </p:nvCxnSpPr>
        <p:spPr>
          <a:xfrm>
            <a:off x="3351454" y="4993706"/>
            <a:ext cx="3573220" cy="135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29386FC-82DA-DC1A-0E73-9FC12641EB84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2899016" y="3718344"/>
            <a:ext cx="0" cy="1172968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24C5E82-D274-BECB-9F90-C72667BD156A}"/>
              </a:ext>
            </a:extLst>
          </p:cNvPr>
          <p:cNvSpPr txBox="1"/>
          <p:nvPr/>
        </p:nvSpPr>
        <p:spPr>
          <a:xfrm>
            <a:off x="9795631" y="1609370"/>
            <a:ext cx="184537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1050">
                <a:solidFill>
                  <a:srgbClr val="FF0000"/>
                </a:solidFill>
              </a:rPr>
              <a:t>IP-VPN</a:t>
            </a:r>
            <a:r>
              <a:rPr lang="ja-JP" altLang="en-US" sz="1050">
                <a:solidFill>
                  <a:srgbClr val="FF0000"/>
                </a:solidFill>
              </a:rPr>
              <a:t>や広域イーサネット</a:t>
            </a:r>
            <a:endParaRPr lang="en-US" altLang="ja-JP" sz="1050">
              <a:solidFill>
                <a:srgbClr val="FF0000"/>
              </a:solidFill>
            </a:endParaRPr>
          </a:p>
          <a:p>
            <a:pPr algn="l"/>
            <a:r>
              <a:rPr kumimoji="1" lang="en-US" altLang="ja-JP" sz="1050">
                <a:solidFill>
                  <a:srgbClr val="FF0000"/>
                </a:solidFill>
              </a:rPr>
              <a:t>(</a:t>
            </a:r>
            <a:r>
              <a:rPr kumimoji="1" lang="ja-JP" altLang="en-US" sz="1050">
                <a:solidFill>
                  <a:srgbClr val="FF0000"/>
                </a:solidFill>
              </a:rPr>
              <a:t>閉域網および回線事業者</a:t>
            </a:r>
            <a:r>
              <a:rPr kumimoji="1" lang="en-US" altLang="ja-JP" sz="1050">
                <a:solidFill>
                  <a:srgbClr val="FF0000"/>
                </a:solidFill>
              </a:rPr>
              <a:t>)</a:t>
            </a:r>
            <a:endParaRPr kumimoji="1" lang="ja-JP" altLang="en-US" sz="1050">
              <a:solidFill>
                <a:srgbClr val="FF0000"/>
              </a:solidFill>
            </a:endParaRP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C252A182-A610-7761-6BBF-7ECBC592FC31}"/>
              </a:ext>
            </a:extLst>
          </p:cNvPr>
          <p:cNvCxnSpPr/>
          <p:nvPr/>
        </p:nvCxnSpPr>
        <p:spPr>
          <a:xfrm>
            <a:off x="8594418" y="1736328"/>
            <a:ext cx="11334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6E0B58A1-7D9C-41DF-BC10-514B462193AE}"/>
              </a:ext>
            </a:extLst>
          </p:cNvPr>
          <p:cNvSpPr/>
          <p:nvPr/>
        </p:nvSpPr>
        <p:spPr>
          <a:xfrm>
            <a:off x="390525" y="4544388"/>
            <a:ext cx="8762999" cy="2269581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050">
                <a:solidFill>
                  <a:schemeClr val="tx1"/>
                </a:solidFill>
              </a:rPr>
              <a:t>WAN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58B1146B-A3FE-D34C-CFF0-7AD9707DF9BA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377112" y="3722343"/>
            <a:ext cx="1" cy="1182528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39A22A8-7DC3-9E3F-5F01-3A6486E5FCBB}"/>
              </a:ext>
            </a:extLst>
          </p:cNvPr>
          <p:cNvSpPr txBox="1"/>
          <p:nvPr/>
        </p:nvSpPr>
        <p:spPr>
          <a:xfrm>
            <a:off x="2867026" y="4261709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050"/>
              <a:t>ONU</a:t>
            </a:r>
            <a:endParaRPr kumimoji="1" lang="ja-JP" altLang="en-US" sz="105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99CC9FC-1B65-F3B5-7B0F-A703A673BEBD}"/>
              </a:ext>
            </a:extLst>
          </p:cNvPr>
          <p:cNvSpPr txBox="1"/>
          <p:nvPr/>
        </p:nvSpPr>
        <p:spPr>
          <a:xfrm>
            <a:off x="7377112" y="4200335"/>
            <a:ext cx="484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050"/>
              <a:t>ONU</a:t>
            </a:r>
            <a:endParaRPr kumimoji="1" lang="ja-JP" altLang="en-US" sz="1050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50086822-A993-FE53-7550-9FDA5AF00968}"/>
              </a:ext>
            </a:extLst>
          </p:cNvPr>
          <p:cNvCxnSpPr>
            <a:cxnSpLocks/>
          </p:cNvCxnSpPr>
          <p:nvPr/>
        </p:nvCxnSpPr>
        <p:spPr>
          <a:xfrm>
            <a:off x="6886575" y="2466245"/>
            <a:ext cx="0" cy="8425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E1269CB5-32FE-B099-9061-F48982B91A4A}"/>
              </a:ext>
            </a:extLst>
          </p:cNvPr>
          <p:cNvGrpSpPr/>
          <p:nvPr/>
        </p:nvGrpSpPr>
        <p:grpSpPr>
          <a:xfrm>
            <a:off x="2600325" y="2576457"/>
            <a:ext cx="4696580" cy="2328413"/>
            <a:chOff x="1990725" y="1933575"/>
            <a:chExt cx="4733925" cy="2708735"/>
          </a:xfrm>
        </p:grpSpPr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D7213B3D-F5BD-55C0-9B42-50BCAF500D7C}"/>
                </a:ext>
              </a:extLst>
            </p:cNvPr>
            <p:cNvCxnSpPr/>
            <p:nvPr/>
          </p:nvCxnSpPr>
          <p:spPr>
            <a:xfrm flipV="1">
              <a:off x="1990725" y="1933575"/>
              <a:ext cx="0" cy="2708735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D15F5F68-5BA5-6670-2A0A-614C3B75E11C}"/>
                </a:ext>
              </a:extLst>
            </p:cNvPr>
            <p:cNvCxnSpPr/>
            <p:nvPr/>
          </p:nvCxnSpPr>
          <p:spPr>
            <a:xfrm flipV="1">
              <a:off x="6724650" y="1933575"/>
              <a:ext cx="0" cy="2708735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B1DCD871-3293-547E-4E73-F328C2CA1BAF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1933575"/>
              <a:ext cx="4733925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708A0CA4-6B31-2835-5341-D9A0ED9573A5}"/>
              </a:ext>
            </a:extLst>
          </p:cNvPr>
          <p:cNvCxnSpPr/>
          <p:nvPr/>
        </p:nvCxnSpPr>
        <p:spPr>
          <a:xfrm>
            <a:off x="8592599" y="2159526"/>
            <a:ext cx="1133475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F184643-4150-BA92-18B3-4ED8955766C0}"/>
              </a:ext>
            </a:extLst>
          </p:cNvPr>
          <p:cNvSpPr txBox="1"/>
          <p:nvPr/>
        </p:nvSpPr>
        <p:spPr>
          <a:xfrm>
            <a:off x="9769826" y="2061143"/>
            <a:ext cx="14045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>
                <a:solidFill>
                  <a:schemeClr val="accent4"/>
                </a:solidFill>
              </a:rPr>
              <a:t>インターネット</a:t>
            </a:r>
            <a:r>
              <a:rPr lang="en-US" altLang="ja-JP" sz="1050">
                <a:solidFill>
                  <a:schemeClr val="accent4"/>
                </a:solidFill>
              </a:rPr>
              <a:t>VPN</a:t>
            </a:r>
            <a:endParaRPr kumimoji="1" lang="ja-JP" altLang="en-US" sz="1050">
              <a:solidFill>
                <a:schemeClr val="accent4"/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8E50420-B25F-DF21-A922-D4AEBAF7B7FF}"/>
              </a:ext>
            </a:extLst>
          </p:cNvPr>
          <p:cNvSpPr txBox="1"/>
          <p:nvPr/>
        </p:nvSpPr>
        <p:spPr>
          <a:xfrm>
            <a:off x="8610139" y="2414587"/>
            <a:ext cx="34608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050"/>
              <a:t>WAN(LAN</a:t>
            </a:r>
            <a:r>
              <a:rPr kumimoji="1" lang="ja-JP" altLang="en-US" sz="1050"/>
              <a:t>間接続</a:t>
            </a:r>
            <a:r>
              <a:rPr kumimoji="1" lang="en-US" altLang="ja-JP" sz="1050"/>
              <a:t>)</a:t>
            </a:r>
            <a:r>
              <a:rPr kumimoji="1" lang="ja-JP" altLang="en-US" sz="1050"/>
              <a:t>を実現する手段は、</a:t>
            </a:r>
            <a:r>
              <a:rPr kumimoji="1" lang="en-US" altLang="ja-JP" sz="1050"/>
              <a:t>IP-VPN</a:t>
            </a:r>
            <a:r>
              <a:rPr lang="ja-JP" altLang="en-US" sz="1050"/>
              <a:t>か</a:t>
            </a:r>
            <a:r>
              <a:rPr kumimoji="1" lang="ja-JP" altLang="en-US" sz="1050"/>
              <a:t>広域イーサネットによる閉域接続か、インターネットを経由するインターネット</a:t>
            </a:r>
            <a:r>
              <a:rPr kumimoji="1" lang="en-US" altLang="ja-JP" sz="1050"/>
              <a:t>VPN</a:t>
            </a:r>
            <a:r>
              <a:rPr kumimoji="1" lang="ja-JP" altLang="en-US" sz="1050"/>
              <a:t>。</a:t>
            </a:r>
            <a:endParaRPr kumimoji="1" lang="en-US" altLang="ja-JP" sz="1050"/>
          </a:p>
          <a:p>
            <a:pPr algn="l"/>
            <a:r>
              <a:rPr kumimoji="1" lang="en-US" altLang="ja-JP" sz="1050"/>
              <a:t>(</a:t>
            </a:r>
            <a:r>
              <a:rPr kumimoji="1" lang="ja-JP" altLang="en-US" sz="1050"/>
              <a:t>ほかにも、自社で専用線を用意して接続する方法も</a:t>
            </a:r>
            <a:r>
              <a:rPr kumimoji="1" lang="en-US" altLang="ja-JP" sz="1050"/>
              <a:t>)</a:t>
            </a:r>
            <a:endParaRPr kumimoji="1" lang="ja-JP" altLang="en-US" sz="1050"/>
          </a:p>
        </p:txBody>
      </p:sp>
      <p:sp>
        <p:nvSpPr>
          <p:cNvPr id="67" name="タイトル 1">
            <a:extLst>
              <a:ext uri="{FF2B5EF4-FFF2-40B4-BE49-F238E27FC236}">
                <a16:creationId xmlns:a16="http://schemas.microsoft.com/office/drawing/2014/main" id="{6D5F5B75-0F60-17B9-C3ED-17BFE17A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13" y="136525"/>
            <a:ext cx="10515600" cy="609055"/>
          </a:xfrm>
        </p:spPr>
        <p:txBody>
          <a:bodyPr>
            <a:noAutofit/>
          </a:bodyPr>
          <a:lstStyle/>
          <a:p>
            <a:r>
              <a:rPr kumimoji="1" lang="ja-JP" altLang="en-US" sz="2800"/>
              <a:t>インターネットと</a:t>
            </a:r>
            <a:r>
              <a:rPr kumimoji="1" lang="en-US" altLang="ja-JP" sz="2800"/>
              <a:t>LAN</a:t>
            </a:r>
            <a:r>
              <a:rPr kumimoji="1" lang="ja-JP" altLang="en-US" sz="2800"/>
              <a:t>・</a:t>
            </a:r>
            <a:r>
              <a:rPr kumimoji="1" lang="en-US" altLang="ja-JP" sz="2800"/>
              <a:t>WAN</a:t>
            </a:r>
            <a:r>
              <a:rPr kumimoji="1" lang="ja-JP" altLang="en-US" sz="2800"/>
              <a:t>の違い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33CE19F-E70E-3BFB-FC83-8F16E04E2641}"/>
              </a:ext>
            </a:extLst>
          </p:cNvPr>
          <p:cNvSpPr/>
          <p:nvPr/>
        </p:nvSpPr>
        <p:spPr>
          <a:xfrm>
            <a:off x="2446577" y="4891312"/>
            <a:ext cx="904877" cy="2047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ルータ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F3F549C1-FB59-A243-89AA-3910C75414FF}"/>
              </a:ext>
            </a:extLst>
          </p:cNvPr>
          <p:cNvSpPr/>
          <p:nvPr/>
        </p:nvSpPr>
        <p:spPr>
          <a:xfrm>
            <a:off x="6924674" y="4904871"/>
            <a:ext cx="904877" cy="2047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ルータ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D24DCCC0-5E84-8771-F6EB-45813504D64D}"/>
              </a:ext>
            </a:extLst>
          </p:cNvPr>
          <p:cNvSpPr/>
          <p:nvPr/>
        </p:nvSpPr>
        <p:spPr>
          <a:xfrm>
            <a:off x="5476872" y="5927391"/>
            <a:ext cx="1276347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chemeClr val="tx1"/>
                </a:solidFill>
              </a:rPr>
              <a:t>Printer</a:t>
            </a:r>
            <a:endParaRPr kumimoji="1" lang="ja-JP" altLang="en-US" sz="1050">
              <a:solidFill>
                <a:schemeClr val="tx1"/>
              </a:solidFill>
            </a:endParaRPr>
          </a:p>
        </p:txBody>
      </p: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301E5FD1-4EBB-788D-9D7F-E01AEBE3F84D}"/>
              </a:ext>
            </a:extLst>
          </p:cNvPr>
          <p:cNvCxnSpPr>
            <a:cxnSpLocks/>
          </p:cNvCxnSpPr>
          <p:nvPr/>
        </p:nvCxnSpPr>
        <p:spPr>
          <a:xfrm flipH="1">
            <a:off x="8592599" y="1440239"/>
            <a:ext cx="1129776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9ECC074E-12A0-177F-CF09-AB35476394DA}"/>
              </a:ext>
            </a:extLst>
          </p:cNvPr>
          <p:cNvSpPr txBox="1"/>
          <p:nvPr/>
        </p:nvSpPr>
        <p:spPr>
          <a:xfrm>
            <a:off x="9795631" y="1323267"/>
            <a:ext cx="19351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>
                <a:solidFill>
                  <a:schemeClr val="accent6"/>
                </a:solidFill>
              </a:rPr>
              <a:t>光回線など回線事業者の回線</a:t>
            </a:r>
            <a:endParaRPr kumimoji="1" lang="ja-JP" altLang="en-US" sz="1050">
              <a:solidFill>
                <a:schemeClr val="accent6"/>
              </a:solidFill>
            </a:endParaRPr>
          </a:p>
        </p:txBody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0EF06A2E-F261-012A-0451-A7E9D2AD7A8B}"/>
              </a:ext>
            </a:extLst>
          </p:cNvPr>
          <p:cNvSpPr/>
          <p:nvPr/>
        </p:nvSpPr>
        <p:spPr>
          <a:xfrm>
            <a:off x="476247" y="1352030"/>
            <a:ext cx="7875958" cy="2709654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600">
                <a:solidFill>
                  <a:schemeClr val="tx1"/>
                </a:solidFill>
              </a:rPr>
              <a:t>インターネット</a:t>
            </a:r>
            <a:r>
              <a:rPr kumimoji="1" lang="en-US" altLang="ja-JP" sz="1600">
                <a:solidFill>
                  <a:schemeClr val="tx1"/>
                </a:solidFill>
              </a:rPr>
              <a:t>(ISP</a:t>
            </a:r>
            <a:r>
              <a:rPr kumimoji="1" lang="ja-JP" altLang="en-US" sz="1600">
                <a:solidFill>
                  <a:schemeClr val="tx1"/>
                </a:solidFill>
              </a:rPr>
              <a:t>などのネットワークの相互接続</a:t>
            </a:r>
            <a:r>
              <a:rPr kumimoji="1" lang="en-US" altLang="ja-JP" sz="1600">
                <a:solidFill>
                  <a:schemeClr val="tx1"/>
                </a:solidFill>
              </a:rPr>
              <a:t>)</a:t>
            </a:r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6C37-2339-1054-866F-96E18E89D527}"/>
              </a:ext>
            </a:extLst>
          </p:cNvPr>
          <p:cNvSpPr/>
          <p:nvPr/>
        </p:nvSpPr>
        <p:spPr>
          <a:xfrm>
            <a:off x="1085851" y="3308769"/>
            <a:ext cx="2428872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利用者が契約する</a:t>
            </a:r>
            <a:r>
              <a:rPr kumimoji="1" lang="en-US" altLang="ja-JP" sz="1050">
                <a:solidFill>
                  <a:schemeClr val="tx1"/>
                </a:solidFill>
              </a:rPr>
              <a:t>ISP</a:t>
            </a:r>
            <a:r>
              <a:rPr kumimoji="1" lang="ja-JP" altLang="en-US" sz="1050">
                <a:solidFill>
                  <a:schemeClr val="tx1"/>
                </a:solidFill>
              </a:rPr>
              <a:t>のネットワーク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165839BE-1775-BA50-A554-93B415C8D7CF}"/>
              </a:ext>
            </a:extLst>
          </p:cNvPr>
          <p:cNvSpPr/>
          <p:nvPr/>
        </p:nvSpPr>
        <p:spPr>
          <a:xfrm>
            <a:off x="5334376" y="3298386"/>
            <a:ext cx="2428872" cy="4095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solidFill>
                  <a:schemeClr val="tx1"/>
                </a:solidFill>
              </a:rPr>
              <a:t>利用者が契約する</a:t>
            </a:r>
            <a:r>
              <a:rPr kumimoji="1" lang="en-US" altLang="ja-JP" sz="1050">
                <a:solidFill>
                  <a:schemeClr val="tx1"/>
                </a:solidFill>
              </a:rPr>
              <a:t>ISP</a:t>
            </a:r>
            <a:r>
              <a:rPr kumimoji="1" lang="ja-JP" altLang="en-US" sz="1050">
                <a:solidFill>
                  <a:schemeClr val="tx1"/>
                </a:solidFill>
              </a:rPr>
              <a:t>のネットワーク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3B73793A-61E7-49C5-A23E-EDB18D3116F4}"/>
              </a:ext>
            </a:extLst>
          </p:cNvPr>
          <p:cNvSpPr txBox="1"/>
          <p:nvPr/>
        </p:nvSpPr>
        <p:spPr>
          <a:xfrm>
            <a:off x="156713" y="717794"/>
            <a:ext cx="11914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400" b="1"/>
              <a:t>インターネットに接続するすべての機器はISPに接続</a:t>
            </a:r>
            <a:r>
              <a:rPr lang="ja-JP" altLang="en-US" sz="1400" b="1"/>
              <a:t>する。</a:t>
            </a:r>
            <a:r>
              <a:rPr lang="ja-JP" altLang="ja-JP" sz="1400" b="1"/>
              <a:t>インターネットの正体とは、すべてのISP</a:t>
            </a:r>
            <a:r>
              <a:rPr lang="en-US" altLang="ja-JP" sz="1400" b="1"/>
              <a:t> (</a:t>
            </a:r>
            <a:r>
              <a:rPr lang="ja-JP" altLang="en-US" sz="1400" b="1"/>
              <a:t>や、他にクラウド事業者、コンテンツ事業者など</a:t>
            </a:r>
            <a:r>
              <a:rPr lang="en-US" altLang="ja-JP" sz="1400" b="1"/>
              <a:t>) </a:t>
            </a:r>
            <a:r>
              <a:rPr lang="ja-JP" altLang="ja-JP" sz="1400" b="1"/>
              <a:t>の</a:t>
            </a:r>
            <a:r>
              <a:rPr lang="ja-JP" altLang="en-US" sz="1400" b="1"/>
              <a:t>相互</a:t>
            </a:r>
            <a:r>
              <a:rPr lang="ja-JP" altLang="ja-JP" sz="1400" b="1"/>
              <a:t>接続によって実現される、すべての機器間の</a:t>
            </a:r>
            <a:r>
              <a:rPr lang="ja-JP" altLang="en-US" sz="1400" b="1"/>
              <a:t>接続経路</a:t>
            </a:r>
            <a:r>
              <a:rPr lang="ja-JP" altLang="ja-JP" sz="1400" b="1"/>
              <a:t>のこと</a:t>
            </a:r>
            <a:r>
              <a:rPr lang="ja-JP" altLang="en-US" sz="1400" b="1"/>
              <a:t>。</a:t>
            </a:r>
            <a:r>
              <a:rPr lang="en-US" altLang="ja-JP" sz="1400" b="1"/>
              <a:t>(</a:t>
            </a:r>
            <a:r>
              <a:rPr lang="ja-JP" altLang="en-US" sz="1400" b="1"/>
              <a:t>経路があっても、実際に通信できるかどうかは、</a:t>
            </a:r>
            <a:r>
              <a:rPr lang="en-US" altLang="ja-JP" sz="1400" b="1"/>
              <a:t>FW</a:t>
            </a:r>
            <a:r>
              <a:rPr lang="ja-JP" altLang="en-US" sz="1400" b="1"/>
              <a:t>などによる</a:t>
            </a:r>
            <a:r>
              <a:rPr lang="en-US" altLang="ja-JP" sz="1400" b="1"/>
              <a:t>)</a:t>
            </a:r>
            <a:endParaRPr lang="en-US" altLang="ja-JP" sz="1200" b="1"/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2CAD788E-625C-68D3-7EC4-30F9D3BD04A0}"/>
              </a:ext>
            </a:extLst>
          </p:cNvPr>
          <p:cNvSpPr/>
          <p:nvPr/>
        </p:nvSpPr>
        <p:spPr>
          <a:xfrm>
            <a:off x="1000127" y="4158352"/>
            <a:ext cx="1514772" cy="582999"/>
          </a:xfrm>
          <a:prstGeom prst="wedgeRectCallout">
            <a:avLst>
              <a:gd name="adj1" fmla="val 50236"/>
              <a:gd name="adj2" fmla="val 8827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</a:rPr>
              <a:t>ISP</a:t>
            </a:r>
            <a:r>
              <a:rPr kumimoji="1" lang="ja-JP" altLang="en-US" sz="900">
                <a:solidFill>
                  <a:schemeClr val="tx1"/>
                </a:solidFill>
              </a:rPr>
              <a:t>によって、ルータにはインターネットに接続するためのグローバル</a:t>
            </a:r>
            <a:r>
              <a:rPr kumimoji="1" lang="en-US" altLang="ja-JP" sz="900">
                <a:solidFill>
                  <a:schemeClr val="tx1"/>
                </a:solidFill>
              </a:rPr>
              <a:t>IP</a:t>
            </a:r>
            <a:r>
              <a:rPr kumimoji="1" lang="ja-JP" altLang="en-US" sz="900">
                <a:solidFill>
                  <a:schemeClr val="tx1"/>
                </a:solidFill>
              </a:rPr>
              <a:t>アドレスが割り当てられる</a:t>
            </a:r>
          </a:p>
        </p:txBody>
      </p:sp>
    </p:spTree>
    <p:extLst>
      <p:ext uri="{BB962C8B-B14F-4D97-AF65-F5344CB8AC3E}">
        <p14:creationId xmlns:p14="http://schemas.microsoft.com/office/powerpoint/2010/main" val="145927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B0077A1-B4AD-AFD3-0223-7E7BBC4A0005}"/>
              </a:ext>
            </a:extLst>
          </p:cNvPr>
          <p:cNvSpPr txBox="1"/>
          <p:nvPr/>
        </p:nvSpPr>
        <p:spPr>
          <a:xfrm>
            <a:off x="260018" y="800779"/>
            <a:ext cx="1114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1600"/>
              <a:t>「通信事業者」とは、通信回線、携帯電話通信、インターネット接続、閉域網などの通信サービスなどを提供する事業者の総称。</a:t>
            </a:r>
            <a:endParaRPr lang="en-US" altLang="ja-JP" sz="1600"/>
          </a:p>
        </p:txBody>
      </p:sp>
      <p:graphicFrame>
        <p:nvGraphicFramePr>
          <p:cNvPr id="52" name="表 51">
            <a:extLst>
              <a:ext uri="{FF2B5EF4-FFF2-40B4-BE49-F238E27FC236}">
                <a16:creationId xmlns:a16="http://schemas.microsoft.com/office/drawing/2014/main" id="{AB7AFB29-5BC9-922A-8F56-7C7094E75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248965"/>
              </p:ext>
            </p:extLst>
          </p:nvPr>
        </p:nvGraphicFramePr>
        <p:xfrm>
          <a:off x="784747" y="2297967"/>
          <a:ext cx="1062250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501">
                  <a:extLst>
                    <a:ext uri="{9D8B030D-6E8A-4147-A177-3AD203B41FA5}">
                      <a16:colId xmlns:a16="http://schemas.microsoft.com/office/drawing/2014/main" val="2685966444"/>
                    </a:ext>
                  </a:extLst>
                </a:gridCol>
                <a:gridCol w="2124501">
                  <a:extLst>
                    <a:ext uri="{9D8B030D-6E8A-4147-A177-3AD203B41FA5}">
                      <a16:colId xmlns:a16="http://schemas.microsoft.com/office/drawing/2014/main" val="1853360687"/>
                    </a:ext>
                  </a:extLst>
                </a:gridCol>
                <a:gridCol w="2124501">
                  <a:extLst>
                    <a:ext uri="{9D8B030D-6E8A-4147-A177-3AD203B41FA5}">
                      <a16:colId xmlns:a16="http://schemas.microsoft.com/office/drawing/2014/main" val="4020050567"/>
                    </a:ext>
                  </a:extLst>
                </a:gridCol>
                <a:gridCol w="2124501">
                  <a:extLst>
                    <a:ext uri="{9D8B030D-6E8A-4147-A177-3AD203B41FA5}">
                      <a16:colId xmlns:a16="http://schemas.microsoft.com/office/drawing/2014/main" val="1211636470"/>
                    </a:ext>
                  </a:extLst>
                </a:gridCol>
                <a:gridCol w="2124501">
                  <a:extLst>
                    <a:ext uri="{9D8B030D-6E8A-4147-A177-3AD203B41FA5}">
                      <a16:colId xmlns:a16="http://schemas.microsoft.com/office/drawing/2014/main" val="899390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ISP</a:t>
                      </a:r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事業</a:t>
                      </a:r>
                      <a:endParaRPr kumimoji="1" lang="en-US" altLang="ja-JP" sz="1600" b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インターネット接続を提供する</a:t>
                      </a:r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回線事業</a:t>
                      </a:r>
                      <a:endParaRPr kumimoji="1" lang="en-US" altLang="ja-JP" sz="1600" b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アクセス回線、専用線などを提供する</a:t>
                      </a:r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モバイル通信事業</a:t>
                      </a:r>
                      <a:endParaRPr kumimoji="1" lang="en-US" altLang="ja-JP" sz="1600" b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携帯電話通信を提供する</a:t>
                      </a:r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閉域網事業</a:t>
                      </a:r>
                      <a:endParaRPr kumimoji="1" lang="en-US" altLang="ja-JP" sz="1600" b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600" b="0">
                          <a:solidFill>
                            <a:schemeClr val="tx1"/>
                          </a:solidFill>
                        </a:rPr>
                        <a:t>閉域網を提供する</a:t>
                      </a:r>
                      <a:r>
                        <a:rPr kumimoji="1" lang="en-US" altLang="ja-JP" sz="16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71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>
                          <a:solidFill>
                            <a:schemeClr val="tx1"/>
                          </a:solidFill>
                        </a:rPr>
                        <a:t>ASAHI</a:t>
                      </a:r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ネット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16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>
                          <a:solidFill>
                            <a:schemeClr val="tx1"/>
                          </a:solidFill>
                        </a:rPr>
                        <a:t>NTT</a:t>
                      </a:r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東日本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222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>
                          <a:solidFill>
                            <a:schemeClr val="tx1"/>
                          </a:solidFill>
                        </a:rPr>
                        <a:t>KDDI</a:t>
                      </a:r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33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ソフトバンク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61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>
                          <a:solidFill>
                            <a:schemeClr val="tx1"/>
                          </a:solidFill>
                        </a:rPr>
                        <a:t>BIGLOBE</a:t>
                      </a:r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22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>
                          <a:solidFill>
                            <a:schemeClr val="tx1"/>
                          </a:solidFill>
                        </a:rPr>
                        <a:t>NTT</a:t>
                      </a:r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ドコモビジネス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>
                          <a:solidFill>
                            <a:schemeClr val="tx1"/>
                          </a:solidFill>
                        </a:rPr>
                        <a:t>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978406"/>
                  </a:ext>
                </a:extLst>
              </a:tr>
            </a:tbl>
          </a:graphicData>
        </a:graphic>
      </p:graphicFrame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266C13F-3E9C-ACC6-AB4B-F2A250534CF8}"/>
              </a:ext>
            </a:extLst>
          </p:cNvPr>
          <p:cNvSpPr txBox="1"/>
          <p:nvPr/>
        </p:nvSpPr>
        <p:spPr>
          <a:xfrm>
            <a:off x="8376448" y="1385554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/>
              <a:t>◎ </a:t>
            </a:r>
            <a:r>
              <a:rPr kumimoji="1" lang="en-US" altLang="ja-JP" sz="1600"/>
              <a:t>: </a:t>
            </a:r>
            <a:r>
              <a:rPr kumimoji="1" lang="ja-JP" altLang="en-US" sz="1600"/>
              <a:t>主力事業</a:t>
            </a:r>
            <a:endParaRPr kumimoji="1" lang="en-US" altLang="ja-JP" sz="1600"/>
          </a:p>
          <a:p>
            <a:pPr algn="l"/>
            <a:r>
              <a:rPr lang="ja-JP" altLang="en-US" sz="1600"/>
              <a:t>〇 </a:t>
            </a:r>
            <a:r>
              <a:rPr lang="en-US" altLang="ja-JP" sz="1600"/>
              <a:t>: </a:t>
            </a:r>
            <a:r>
              <a:rPr lang="ja-JP" altLang="en-US" sz="1600"/>
              <a:t>主力事業以外に提供している事業</a:t>
            </a:r>
            <a:endParaRPr kumimoji="1" lang="ja-JP" altLang="en-US" sz="1600"/>
          </a:p>
        </p:txBody>
      </p:sp>
      <p:sp>
        <p:nvSpPr>
          <p:cNvPr id="54" name="タイトル 1">
            <a:extLst>
              <a:ext uri="{FF2B5EF4-FFF2-40B4-BE49-F238E27FC236}">
                <a16:creationId xmlns:a16="http://schemas.microsoft.com/office/drawing/2014/main" id="{375B2663-35D8-55AD-C0D1-2836F006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13" y="136525"/>
            <a:ext cx="10515600" cy="743369"/>
          </a:xfrm>
        </p:spPr>
        <p:txBody>
          <a:bodyPr>
            <a:noAutofit/>
          </a:bodyPr>
          <a:lstStyle/>
          <a:p>
            <a:r>
              <a:rPr kumimoji="1" lang="ja-JP" altLang="en-US" sz="2800"/>
              <a:t>通信事業者とその事業内容</a:t>
            </a:r>
          </a:p>
        </p:txBody>
      </p:sp>
    </p:spTree>
    <p:extLst>
      <p:ext uri="{BB962C8B-B14F-4D97-AF65-F5344CB8AC3E}">
        <p14:creationId xmlns:p14="http://schemas.microsoft.com/office/powerpoint/2010/main" val="200757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646DA-2EF2-C6D2-496F-B77B0B81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E50774-7F4F-C899-E1F4-B10B9A2B4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業務</a:t>
            </a:r>
            <a:r>
              <a:rPr kumimoji="1" lang="en-US" altLang="ja-JP"/>
              <a:t>SE</a:t>
            </a:r>
            <a:r>
              <a:rPr kumimoji="1" lang="ja-JP" altLang="en-US"/>
              <a:t>と方式</a:t>
            </a:r>
            <a:r>
              <a:rPr kumimoji="1" lang="en-US" altLang="ja-JP"/>
              <a:t>SE</a:t>
            </a:r>
            <a:r>
              <a:rPr kumimoji="1" lang="ja-JP" altLang="en-US"/>
              <a:t>、アプリエンジニアとインフラエンジニア</a:t>
            </a:r>
          </a:p>
        </p:txBody>
      </p:sp>
    </p:spTree>
    <p:extLst>
      <p:ext uri="{BB962C8B-B14F-4D97-AF65-F5344CB8AC3E}">
        <p14:creationId xmlns:p14="http://schemas.microsoft.com/office/powerpoint/2010/main" val="394643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nou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sz="105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0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15456</TotalTime>
  <Words>1238</Words>
  <Application>Microsoft Office PowerPoint</Application>
  <PresentationFormat>ワイド画面</PresentationFormat>
  <Paragraphs>268</Paragraphs>
  <Slides>13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メイリオ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Webアプリケーションのレイヤードアーキテクチャ</vt:lpstr>
      <vt:lpstr>ToDoアプリケーションの設計</vt:lpstr>
      <vt:lpstr>ER図</vt:lpstr>
      <vt:lpstr>PowerPoint プレゼンテーション</vt:lpstr>
      <vt:lpstr>PowerPoint プレゼンテーション</vt:lpstr>
      <vt:lpstr>MulesoftにおけるAPI Gateway / API Managerの役割分担</vt:lpstr>
      <vt:lpstr>Mulesoftチュートリアル「レート制限ポリシーを使ってみよう」</vt:lpstr>
      <vt:lpstr>PowerPoint プレゼンテーション</vt:lpstr>
      <vt:lpstr>インターネットとLAN・WANの違い</vt:lpstr>
      <vt:lpstr>通信事業者とその事業内容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Kotaro Onoue</dc:creator>
  <cp:lastModifiedBy>Kotaro Onoue</cp:lastModifiedBy>
  <cp:revision>166</cp:revision>
  <dcterms:created xsi:type="dcterms:W3CDTF">2026-06-29T12:26:02Z</dcterms:created>
  <dcterms:modified xsi:type="dcterms:W3CDTF">2026-10-28T19:01:01Z</dcterms:modified>
</cp:coreProperties>
</file>